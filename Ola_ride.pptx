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61" r:id="rId2"/>
    <p:sldId id="256" r:id="rId3"/>
    <p:sldId id="257" r:id="rId4"/>
    <p:sldId id="258" r:id="rId5"/>
    <p:sldId id="259" r:id="rId6"/>
    <p:sldId id="260" r:id="rId7"/>
    <p:sldId id="262" r:id="rId8"/>
    <p:sldId id="263" r:id="rId9"/>
    <p:sldId id="264" r:id="rId10"/>
    <p:sldId id="265" r:id="rId11"/>
    <p:sldId id="266" r:id="rId12"/>
    <p:sldId id="267" r:id="rId13"/>
    <p:sldId id="268" r:id="rId14"/>
    <p:sldId id="269" r:id="rId15"/>
    <p:sldId id="271" r:id="rId16"/>
  </p:sldIdLst>
  <p:sldSz cx="12192000" cy="6858000"/>
  <p:notesSz cx="6858000" cy="9144000"/>
  <p:embeddedFontLst>
    <p:embeddedFont>
      <p:font typeface="Abadi" panose="020B0604020104020204" pitchFamily="34" charset="0"/>
      <p:regular r:id="rId18"/>
    </p:embeddedFont>
    <p:embeddedFont>
      <p:font typeface="ADLaM Display" panose="02010000000000000000" pitchFamily="2" charset="0"/>
      <p:regular r:id="rId19"/>
    </p:embeddedFont>
    <p:embeddedFont>
      <p:font typeface="Algerian" panose="04020705040A02060702" pitchFamily="82" charset="0"/>
      <p:regular r:id="rId20"/>
    </p:embeddedFont>
    <p:embeddedFont>
      <p:font typeface="Play" panose="020B0604020202020204" charset="0"/>
      <p:regular r:id="rId21"/>
      <p:bold r:id="rId22"/>
    </p:embeddedFont>
    <p:embeddedFont>
      <p:font typeface="Poppins" panose="000005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LxMYFPL6U13wdrt3sR43kqoJl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C06543-E3CC-495D-A703-477479BDC3B9}">
  <a:tblStyle styleId="{88C06543-E3CC-495D-A703-477479BDC3B9}"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2.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7.png"/><Relationship Id="rId4" Type="http://schemas.openxmlformats.org/officeDocument/2006/relationships/image" Target="../media/image4.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6.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2.pn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4;p1">
            <a:extLst>
              <a:ext uri="{FF2B5EF4-FFF2-40B4-BE49-F238E27FC236}">
                <a16:creationId xmlns:a16="http://schemas.microsoft.com/office/drawing/2014/main" id="{976C216C-AA67-EAB4-5882-824488F5FFF1}"/>
              </a:ext>
            </a:extLst>
          </p:cNvPr>
          <p:cNvSpPr/>
          <p:nvPr/>
        </p:nvSpPr>
        <p:spPr>
          <a:xfrm rot="5400000">
            <a:off x="2728449" y="-2728450"/>
            <a:ext cx="6858001" cy="12314905"/>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rgbClr val="3A3A3A"/>
                </a:solidFill>
                <a:latin typeface="Arial"/>
                <a:ea typeface="Arial"/>
                <a:cs typeface="Arial"/>
                <a:sym typeface="Arial"/>
              </a:rPr>
              <a:t>p</a:t>
            </a:r>
            <a:endParaRPr sz="1800" b="0" i="0" u="none" strike="noStrike" cap="none" dirty="0">
              <a:solidFill>
                <a:srgbClr val="3A3A3A"/>
              </a:solidFill>
              <a:latin typeface="Arial"/>
              <a:ea typeface="Arial"/>
              <a:cs typeface="Arial"/>
              <a:sym typeface="Arial"/>
            </a:endParaRPr>
          </a:p>
        </p:txBody>
      </p:sp>
      <p:pic>
        <p:nvPicPr>
          <p:cNvPr id="4" name="Google Shape;97;p1" descr="A white text on a black background&#10;&#10;Description automatically generated">
            <a:extLst>
              <a:ext uri="{FF2B5EF4-FFF2-40B4-BE49-F238E27FC236}">
                <a16:creationId xmlns:a16="http://schemas.microsoft.com/office/drawing/2014/main" id="{787D7134-0FD1-3C08-B4D6-7E6D1BC2DE4A}"/>
              </a:ext>
            </a:extLst>
          </p:cNvPr>
          <p:cNvPicPr preferRelativeResize="0"/>
          <p:nvPr/>
        </p:nvPicPr>
        <p:blipFill rotWithShape="1">
          <a:blip r:embed="rId2">
            <a:alphaModFix/>
          </a:blip>
          <a:srcRect/>
          <a:stretch/>
        </p:blipFill>
        <p:spPr>
          <a:xfrm>
            <a:off x="5332066" y="383458"/>
            <a:ext cx="3192502" cy="1637071"/>
          </a:xfrm>
          <a:prstGeom prst="rect">
            <a:avLst/>
          </a:prstGeom>
          <a:noFill/>
          <a:ln>
            <a:noFill/>
          </a:ln>
        </p:spPr>
      </p:pic>
      <p:pic>
        <p:nvPicPr>
          <p:cNvPr id="5" name="Google Shape;98;p1" descr="A yellow circle with black lines&#10;&#10;Description automatically generated">
            <a:extLst>
              <a:ext uri="{FF2B5EF4-FFF2-40B4-BE49-F238E27FC236}">
                <a16:creationId xmlns:a16="http://schemas.microsoft.com/office/drawing/2014/main" id="{BF294E27-0ACB-B1BC-B278-968333655ADD}"/>
              </a:ext>
            </a:extLst>
          </p:cNvPr>
          <p:cNvPicPr preferRelativeResize="0"/>
          <p:nvPr/>
        </p:nvPicPr>
        <p:blipFill rotWithShape="1">
          <a:blip r:embed="rId3">
            <a:alphaModFix/>
          </a:blip>
          <a:srcRect/>
          <a:stretch/>
        </p:blipFill>
        <p:spPr>
          <a:xfrm>
            <a:off x="3063282" y="268437"/>
            <a:ext cx="2268784" cy="1867111"/>
          </a:xfrm>
          <a:prstGeom prst="rect">
            <a:avLst/>
          </a:prstGeom>
          <a:noFill/>
          <a:ln>
            <a:noFill/>
          </a:ln>
        </p:spPr>
      </p:pic>
      <p:sp>
        <p:nvSpPr>
          <p:cNvPr id="6" name="Google Shape;86;p1">
            <a:extLst>
              <a:ext uri="{FF2B5EF4-FFF2-40B4-BE49-F238E27FC236}">
                <a16:creationId xmlns:a16="http://schemas.microsoft.com/office/drawing/2014/main" id="{1DF6913B-603B-E4A7-DA83-45E67EE8F2CE}"/>
              </a:ext>
            </a:extLst>
          </p:cNvPr>
          <p:cNvSpPr/>
          <p:nvPr/>
        </p:nvSpPr>
        <p:spPr>
          <a:xfrm>
            <a:off x="4277032" y="2750054"/>
            <a:ext cx="7914968" cy="1305751"/>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 name="TextBox 6">
            <a:extLst>
              <a:ext uri="{FF2B5EF4-FFF2-40B4-BE49-F238E27FC236}">
                <a16:creationId xmlns:a16="http://schemas.microsoft.com/office/drawing/2014/main" id="{79E613F9-D27F-813E-4DD2-201FC63B2FF9}"/>
              </a:ext>
            </a:extLst>
          </p:cNvPr>
          <p:cNvSpPr txBox="1"/>
          <p:nvPr/>
        </p:nvSpPr>
        <p:spPr>
          <a:xfrm>
            <a:off x="4601497" y="2865074"/>
            <a:ext cx="5381601" cy="461665"/>
          </a:xfrm>
          <a:prstGeom prst="rect">
            <a:avLst/>
          </a:prstGeom>
          <a:noFill/>
        </p:spPr>
        <p:txBody>
          <a:bodyPr wrap="none" rtlCol="0">
            <a:spAutoFit/>
          </a:bodyPr>
          <a:lstStyle/>
          <a:p>
            <a:r>
              <a:rPr lang="en-US" sz="2400" dirty="0">
                <a:latin typeface="Algerian" panose="04020705040A02060702" pitchFamily="82" charset="0"/>
              </a:rPr>
              <a:t>Project</a:t>
            </a:r>
            <a:r>
              <a:rPr lang="en-US" dirty="0">
                <a:latin typeface="Algerian" panose="04020705040A02060702" pitchFamily="82" charset="0"/>
              </a:rPr>
              <a:t> </a:t>
            </a:r>
            <a:r>
              <a:rPr lang="en-US" sz="2400" dirty="0">
                <a:latin typeface="Algerian" panose="04020705040A02060702" pitchFamily="82" charset="0"/>
              </a:rPr>
              <a:t>name:- Ola_Ride_Anlysis</a:t>
            </a:r>
            <a:endParaRPr lang="en-IN" sz="2400" dirty="0">
              <a:latin typeface="Algerian" panose="04020705040A02060702" pitchFamily="82" charset="0"/>
            </a:endParaRPr>
          </a:p>
        </p:txBody>
      </p:sp>
      <p:sp>
        <p:nvSpPr>
          <p:cNvPr id="9" name="TextBox 8">
            <a:extLst>
              <a:ext uri="{FF2B5EF4-FFF2-40B4-BE49-F238E27FC236}">
                <a16:creationId xmlns:a16="http://schemas.microsoft.com/office/drawing/2014/main" id="{A3EFEC1E-A060-CA1C-CEE0-C641F5FD9E0A}"/>
              </a:ext>
            </a:extLst>
          </p:cNvPr>
          <p:cNvSpPr txBox="1"/>
          <p:nvPr/>
        </p:nvSpPr>
        <p:spPr>
          <a:xfrm>
            <a:off x="8155318" y="3594140"/>
            <a:ext cx="4036682" cy="461665"/>
          </a:xfrm>
          <a:prstGeom prst="rect">
            <a:avLst/>
          </a:prstGeom>
          <a:noFill/>
        </p:spPr>
        <p:txBody>
          <a:bodyPr wrap="none" rtlCol="0">
            <a:spAutoFit/>
          </a:bodyPr>
          <a:lstStyle/>
          <a:p>
            <a:r>
              <a:rPr lang="en-US" sz="2400" dirty="0"/>
              <a:t>Presented by :-Anjali Mishra</a:t>
            </a:r>
            <a:endParaRPr lang="en-IN" sz="2400" dirty="0"/>
          </a:p>
        </p:txBody>
      </p:sp>
    </p:spTree>
    <p:extLst>
      <p:ext uri="{BB962C8B-B14F-4D97-AF65-F5344CB8AC3E}">
        <p14:creationId xmlns:p14="http://schemas.microsoft.com/office/powerpoint/2010/main" val="1027244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83"/>
        <p:cNvGrpSpPr/>
        <p:nvPr/>
      </p:nvGrpSpPr>
      <p:grpSpPr>
        <a:xfrm>
          <a:off x="0" y="0"/>
          <a:ext cx="0" cy="0"/>
          <a:chOff x="0" y="0"/>
          <a:chExt cx="0" cy="0"/>
        </a:xfrm>
      </p:grpSpPr>
      <p:sp>
        <p:nvSpPr>
          <p:cNvPr id="84" name="Google Shape;84;p1"/>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3A3A3A"/>
              </a:solidFill>
              <a:latin typeface="Arial"/>
              <a:ea typeface="Arial"/>
              <a:cs typeface="Arial"/>
              <a:sym typeface="Arial"/>
            </a:endParaRPr>
          </a:p>
        </p:txBody>
      </p:sp>
      <p:sp>
        <p:nvSpPr>
          <p:cNvPr id="85" name="Google Shape;85;p1"/>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6" name="Google Shape;86;p1"/>
          <p:cNvSpPr/>
          <p:nvPr/>
        </p:nvSpPr>
        <p:spPr>
          <a:xfrm>
            <a:off x="0" y="1083487"/>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87" name="Google Shape;87;p1"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88" name="Google Shape;88;p1"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89" name="Google Shape;89;p1"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90" name="Google Shape;90;p1"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91" name="Google Shape;91;p1"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92" name="Google Shape;92;p1"/>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chemeClr val="lt1"/>
                </a:solidFill>
                <a:latin typeface="Poppins"/>
                <a:ea typeface="Poppins"/>
                <a:cs typeface="Poppins"/>
                <a:sym typeface="Poppins"/>
              </a:rPr>
              <a:t>Overall</a:t>
            </a:r>
            <a:endParaRPr sz="2000">
              <a:solidFill>
                <a:schemeClr val="lt1"/>
              </a:solidFill>
              <a:latin typeface="Poppins"/>
              <a:ea typeface="Poppins"/>
              <a:cs typeface="Poppins"/>
              <a:sym typeface="Poppins"/>
            </a:endParaRPr>
          </a:p>
        </p:txBody>
      </p:sp>
      <p:sp>
        <p:nvSpPr>
          <p:cNvPr id="93" name="Google Shape;93;p1"/>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94" name="Google Shape;94;p1"/>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95" name="Google Shape;95;p1"/>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96" name="Google Shape;96;p1"/>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97" name="Google Shape;97;p1"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98" name="Google Shape;98;p1"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sp>
        <p:nvSpPr>
          <p:cNvPr id="3" name="TextBox 2">
            <a:extLst>
              <a:ext uri="{FF2B5EF4-FFF2-40B4-BE49-F238E27FC236}">
                <a16:creationId xmlns:a16="http://schemas.microsoft.com/office/drawing/2014/main" id="{39C822D8-6493-7F07-4CFD-8357F0B817E0}"/>
              </a:ext>
            </a:extLst>
          </p:cNvPr>
          <p:cNvSpPr txBox="1"/>
          <p:nvPr/>
        </p:nvSpPr>
        <p:spPr>
          <a:xfrm>
            <a:off x="3652377" y="206465"/>
            <a:ext cx="7970292" cy="5940088"/>
          </a:xfrm>
          <a:prstGeom prst="rect">
            <a:avLst/>
          </a:prstGeom>
          <a:noFill/>
        </p:spPr>
        <p:txBody>
          <a:bodyPr wrap="squar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The analysis of OLA ride data reveals that Prime Sedans are used for longer trips, while Autos and Mini vehicles are preferred for shorter rides. Customer cancellations are notably higher than driver cancellations, with most driver cancellations due to personal or car-related reasons. A small group of customers accounts for the majority of rides and contributes significantly to total revenue, highlighting the importance of loyal, high-value users. Digital payments dominate, with wallets and cards generating the highest revenue. Ride distances vary daily, but most trips are short to medium, reflecting high urban demand. Driver ratings are generally high, with occasional low ratings in Prime Sedans, indicating areas for service improvement. Customer and driver ratings show a positive correlation, suggesting that satisfied customers rate drivers well. Premium vehicles drive both longer rides and higher revenue. Overall, focusing on reducing cancellations, enhancing service quality for lower-rated drivers, and maintaining top customers can further improve operational efficiency and revenue growth.</a:t>
            </a:r>
            <a:endParaRPr lang="en-IN" sz="2000" dirty="0">
              <a:latin typeface="ADLaM Display" panose="02010000000000000000" pitchFamily="2" charset="0"/>
              <a:ea typeface="ADLaM Display" panose="02010000000000000000" pitchFamily="2" charset="0"/>
              <a:cs typeface="ADLaM Display" panose="020100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02"/>
        <p:cNvGrpSpPr/>
        <p:nvPr/>
      </p:nvGrpSpPr>
      <p:grpSpPr>
        <a:xfrm>
          <a:off x="0" y="0"/>
          <a:ext cx="0" cy="0"/>
          <a:chOff x="0" y="0"/>
          <a:chExt cx="0" cy="0"/>
        </a:xfrm>
      </p:grpSpPr>
      <p:sp>
        <p:nvSpPr>
          <p:cNvPr id="103" name="Google Shape;103;p2"/>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04" name="Google Shape;104;p2"/>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2"/>
          <p:cNvSpPr/>
          <p:nvPr/>
        </p:nvSpPr>
        <p:spPr>
          <a:xfrm>
            <a:off x="0" y="2132399"/>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6" name="Google Shape;106;p2"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07" name="Google Shape;107;p2"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08" name="Google Shape;108;p2"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09" name="Google Shape;109;p2"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10" name="Google Shape;110;p2"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11" name="Google Shape;111;p2"/>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12" name="Google Shape;112;p2"/>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Vehicle Type</a:t>
            </a:r>
            <a:endParaRPr sz="2000">
              <a:solidFill>
                <a:schemeClr val="lt1"/>
              </a:solidFill>
              <a:latin typeface="Poppins"/>
              <a:ea typeface="Poppins"/>
              <a:cs typeface="Poppins"/>
              <a:sym typeface="Poppins"/>
            </a:endParaRPr>
          </a:p>
        </p:txBody>
      </p:sp>
      <p:sp>
        <p:nvSpPr>
          <p:cNvPr id="113" name="Google Shape;113;p2"/>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114" name="Google Shape;114;p2"/>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115" name="Google Shape;115;p2"/>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116" name="Google Shape;116;p2"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17" name="Google Shape;117;p2"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graphicFrame>
        <p:nvGraphicFramePr>
          <p:cNvPr id="118" name="Google Shape;118;p2"/>
          <p:cNvGraphicFramePr/>
          <p:nvPr>
            <p:extLst>
              <p:ext uri="{D42A27DB-BD31-4B8C-83A1-F6EECF244321}">
                <p14:modId xmlns:p14="http://schemas.microsoft.com/office/powerpoint/2010/main" val="4185457252"/>
              </p:ext>
            </p:extLst>
          </p:nvPr>
        </p:nvGraphicFramePr>
        <p:xfrm>
          <a:off x="3421506" y="877266"/>
          <a:ext cx="8421975" cy="5596400"/>
        </p:xfrm>
        <a:graphic>
          <a:graphicData uri="http://schemas.openxmlformats.org/drawingml/2006/table">
            <a:tbl>
              <a:tblPr firstRow="1" bandRow="1">
                <a:noFill/>
                <a:tableStyleId>{88C06543-E3CC-495D-A703-477479BDC3B9}</a:tableStyleId>
              </a:tblPr>
              <a:tblGrid>
                <a:gridCol w="1660150">
                  <a:extLst>
                    <a:ext uri="{9D8B030D-6E8A-4147-A177-3AD203B41FA5}">
                      <a16:colId xmlns:a16="http://schemas.microsoft.com/office/drawing/2014/main" val="20000"/>
                    </a:ext>
                  </a:extLst>
                </a:gridCol>
                <a:gridCol w="1708625">
                  <a:extLst>
                    <a:ext uri="{9D8B030D-6E8A-4147-A177-3AD203B41FA5}">
                      <a16:colId xmlns:a16="http://schemas.microsoft.com/office/drawing/2014/main" val="20001"/>
                    </a:ext>
                  </a:extLst>
                </a:gridCol>
                <a:gridCol w="1684400">
                  <a:extLst>
                    <a:ext uri="{9D8B030D-6E8A-4147-A177-3AD203B41FA5}">
                      <a16:colId xmlns:a16="http://schemas.microsoft.com/office/drawing/2014/main" val="20002"/>
                    </a:ext>
                  </a:extLst>
                </a:gridCol>
                <a:gridCol w="1684400">
                  <a:extLst>
                    <a:ext uri="{9D8B030D-6E8A-4147-A177-3AD203B41FA5}">
                      <a16:colId xmlns:a16="http://schemas.microsoft.com/office/drawing/2014/main" val="20003"/>
                    </a:ext>
                  </a:extLst>
                </a:gridCol>
                <a:gridCol w="1684400">
                  <a:extLst>
                    <a:ext uri="{9D8B030D-6E8A-4147-A177-3AD203B41FA5}">
                      <a16:colId xmlns:a16="http://schemas.microsoft.com/office/drawing/2014/main" val="20004"/>
                    </a:ext>
                  </a:extLst>
                </a:gridCol>
              </a:tblGrid>
              <a:tr h="699550">
                <a:tc>
                  <a:txBody>
                    <a:bodyPr/>
                    <a:lstStyle/>
                    <a:p>
                      <a:pPr marL="0" marR="0" lvl="0" indent="0" algn="ctr" rtl="0">
                        <a:spcBef>
                          <a:spcPts val="0"/>
                        </a:spcBef>
                        <a:spcAft>
                          <a:spcPts val="0"/>
                        </a:spcAft>
                        <a:buNone/>
                      </a:pPr>
                      <a:r>
                        <a:rPr lang="en-US" sz="1600" u="none" strike="noStrike" cap="none" dirty="0">
                          <a:solidFill>
                            <a:schemeClr val="accent6"/>
                          </a:solidFill>
                          <a:latin typeface="Calibri"/>
                          <a:ea typeface="Calibri"/>
                          <a:cs typeface="Calibri"/>
                          <a:sym typeface="Calibri"/>
                        </a:rPr>
                        <a:t>Vehicle Type</a:t>
                      </a:r>
                      <a:endParaRPr sz="1600" u="none" strike="noStrike" cap="none" dirty="0">
                        <a:solidFill>
                          <a:schemeClr val="accent6"/>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u="none" strike="noStrike" cap="none">
                          <a:solidFill>
                            <a:schemeClr val="accent6"/>
                          </a:solidFill>
                          <a:latin typeface="Calibri"/>
                          <a:ea typeface="Calibri"/>
                          <a:cs typeface="Calibri"/>
                          <a:sym typeface="Calibri"/>
                        </a:rPr>
                        <a:t>Total Booking Value</a:t>
                      </a:r>
                      <a:endParaRPr sz="1600" u="none" strike="noStrike" cap="none">
                        <a:solidFill>
                          <a:schemeClr val="accent6"/>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u="none" strike="noStrike" cap="none">
                          <a:solidFill>
                            <a:schemeClr val="accent6"/>
                          </a:solidFill>
                          <a:latin typeface="Calibri"/>
                          <a:ea typeface="Calibri"/>
                          <a:cs typeface="Calibri"/>
                          <a:sym typeface="Calibri"/>
                        </a:rPr>
                        <a:t>Success Booking Value</a:t>
                      </a:r>
                      <a:endParaRPr sz="1600" u="none" strike="noStrike" cap="none">
                        <a:solidFill>
                          <a:schemeClr val="accent6"/>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u="none" strike="noStrike" cap="none">
                          <a:solidFill>
                            <a:schemeClr val="accent6"/>
                          </a:solidFill>
                          <a:latin typeface="Calibri"/>
                          <a:ea typeface="Calibri"/>
                          <a:cs typeface="Calibri"/>
                          <a:sym typeface="Calibri"/>
                        </a:rPr>
                        <a:t>Avg. Distance Travelled</a:t>
                      </a:r>
                      <a:endParaRPr sz="1600" u="none" strike="noStrike" cap="none">
                        <a:solidFill>
                          <a:schemeClr val="accent6"/>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accent6"/>
                        </a:buClr>
                        <a:buSzPts val="1600"/>
                        <a:buFont typeface="Calibri"/>
                        <a:buNone/>
                      </a:pPr>
                      <a:r>
                        <a:rPr lang="en-US" sz="1600" u="none" strike="noStrike" cap="none">
                          <a:solidFill>
                            <a:schemeClr val="accent6"/>
                          </a:solidFill>
                          <a:latin typeface="Calibri"/>
                          <a:ea typeface="Calibri"/>
                          <a:cs typeface="Calibri"/>
                          <a:sym typeface="Calibri"/>
                        </a:rPr>
                        <a:t>Total Distance Travelled</a:t>
                      </a:r>
                      <a:endParaRPr sz="1600" u="none" strike="noStrike" cap="none">
                        <a:solidFill>
                          <a:schemeClr val="accent6"/>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u="none" strike="noStrike" cap="none">
                          <a:latin typeface="Calibri"/>
                          <a:ea typeface="Calibri"/>
                          <a:cs typeface="Calibri"/>
                          <a:sym typeface="Calibri"/>
                        </a:rPr>
                        <a:t>Prime Sedan</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1234567</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1100000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12.34</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54,321</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u="none" strike="noStrike" cap="none">
                          <a:latin typeface="Calibri"/>
                          <a:ea typeface="Calibri"/>
                          <a:cs typeface="Calibri"/>
                          <a:sym typeface="Calibri"/>
                        </a:rPr>
                        <a:t>Prime SUV</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678,900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620,000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13.12</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35678</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2"/>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i="0" u="none" strike="noStrike" cap="none">
                          <a:solidFill>
                            <a:schemeClr val="dk1"/>
                          </a:solidFill>
                          <a:latin typeface="Calibri"/>
                          <a:ea typeface="Calibri"/>
                          <a:cs typeface="Calibri"/>
                          <a:sym typeface="Calibri"/>
                        </a:rPr>
                        <a:t>Prime Plus</a:t>
                      </a:r>
                      <a:endParaRPr sz="1300" u="none" strike="noStrike" cap="none">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890,000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800,000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11.50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38,200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3"/>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i="0" u="none" strike="noStrike" cap="none">
                          <a:solidFill>
                            <a:schemeClr val="dk1"/>
                          </a:solidFill>
                          <a:latin typeface="Calibri"/>
                          <a:ea typeface="Calibri"/>
                          <a:cs typeface="Calibri"/>
                          <a:sym typeface="Calibri"/>
                        </a:rPr>
                        <a:t>Mini</a:t>
                      </a:r>
                      <a:endParaRPr sz="1300" u="none" strike="noStrike" cap="none">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987,654</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900,000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8.45</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43,210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4"/>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u="none" strike="noStrike" cap="none">
                          <a:latin typeface="Calibri"/>
                          <a:ea typeface="Calibri"/>
                          <a:cs typeface="Calibri"/>
                          <a:sym typeface="Calibri"/>
                        </a:rPr>
                        <a:t>Auto</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543,210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500,000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5.67</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32,100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5"/>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u="none" strike="noStrike" cap="none">
                          <a:latin typeface="Calibri"/>
                          <a:ea typeface="Calibri"/>
                          <a:cs typeface="Calibri"/>
                          <a:sym typeface="Calibri"/>
                        </a:rPr>
                        <a:t>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210,000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200,000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4.50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18,900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6"/>
                  </a:ext>
                </a:extLst>
              </a:tr>
              <a:tr h="699550">
                <a:tc>
                  <a:txBody>
                    <a:bodyPr/>
                    <a:lstStyle/>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endParaRPr sz="1300" u="none" strike="noStrike" cap="none">
                        <a:latin typeface="Calibri"/>
                        <a:ea typeface="Calibri"/>
                        <a:cs typeface="Calibri"/>
                        <a:sym typeface="Calibri"/>
                      </a:endParaRPr>
                    </a:p>
                    <a:p>
                      <a:pPr marL="0" marR="0" lvl="0" indent="0" algn="ctr" rtl="0">
                        <a:spcBef>
                          <a:spcPts val="0"/>
                        </a:spcBef>
                        <a:spcAft>
                          <a:spcPts val="0"/>
                        </a:spcAft>
                        <a:buNone/>
                      </a:pPr>
                      <a:r>
                        <a:rPr lang="en-US" sz="1300" u="none" strike="noStrike" cap="none">
                          <a:latin typeface="Calibri"/>
                          <a:ea typeface="Calibri"/>
                          <a:cs typeface="Calibri"/>
                          <a:sym typeface="Calibri"/>
                        </a:rPr>
                        <a:t>E-Bike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150,000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140,00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3.80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dirty="0">
                          <a:latin typeface="Calibri"/>
                          <a:ea typeface="Calibri"/>
                          <a:cs typeface="Calibri"/>
                          <a:sym typeface="Calibri"/>
                        </a:rPr>
                        <a:t>12,500</a:t>
                      </a:r>
                      <a:endParaRPr sz="1300" u="none" strike="noStrike" cap="none" dirty="0">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119" name="Google Shape;119;p2" descr="A black background with a black square&#10;&#10;Description automatically generated with medium confidence"/>
          <p:cNvPicPr preferRelativeResize="0"/>
          <p:nvPr/>
        </p:nvPicPr>
        <p:blipFill rotWithShape="1">
          <a:blip r:embed="rId10">
            <a:alphaModFix/>
          </a:blip>
          <a:srcRect/>
          <a:stretch/>
        </p:blipFill>
        <p:spPr>
          <a:xfrm>
            <a:off x="3731922" y="1381482"/>
            <a:ext cx="956874" cy="956874"/>
          </a:xfrm>
          <a:prstGeom prst="rect">
            <a:avLst/>
          </a:prstGeom>
          <a:noFill/>
          <a:ln>
            <a:noFill/>
          </a:ln>
        </p:spPr>
      </p:pic>
      <p:pic>
        <p:nvPicPr>
          <p:cNvPr id="120" name="Google Shape;120;p2" descr="A black background with a black square&#10;&#10;Description automatically generated with medium confidence"/>
          <p:cNvPicPr preferRelativeResize="0"/>
          <p:nvPr/>
        </p:nvPicPr>
        <p:blipFill rotWithShape="1">
          <a:blip r:embed="rId11">
            <a:alphaModFix/>
          </a:blip>
          <a:srcRect/>
          <a:stretch/>
        </p:blipFill>
        <p:spPr>
          <a:xfrm>
            <a:off x="3818163" y="2146462"/>
            <a:ext cx="855461" cy="855461"/>
          </a:xfrm>
          <a:prstGeom prst="rect">
            <a:avLst/>
          </a:prstGeom>
          <a:noFill/>
          <a:ln>
            <a:noFill/>
          </a:ln>
        </p:spPr>
      </p:pic>
      <p:pic>
        <p:nvPicPr>
          <p:cNvPr id="121" name="Google Shape;121;p2" descr="A car on a black background&#10;&#10;Description automatically generated"/>
          <p:cNvPicPr preferRelativeResize="0"/>
          <p:nvPr/>
        </p:nvPicPr>
        <p:blipFill rotWithShape="1">
          <a:blip r:embed="rId12">
            <a:alphaModFix/>
          </a:blip>
          <a:srcRect/>
          <a:stretch/>
        </p:blipFill>
        <p:spPr>
          <a:xfrm>
            <a:off x="3574641" y="2631383"/>
            <a:ext cx="1191719" cy="1191719"/>
          </a:xfrm>
          <a:prstGeom prst="rect">
            <a:avLst/>
          </a:prstGeom>
          <a:noFill/>
          <a:ln>
            <a:noFill/>
          </a:ln>
        </p:spPr>
      </p:pic>
      <p:pic>
        <p:nvPicPr>
          <p:cNvPr id="122" name="Google Shape;122;p2" descr="A black background with a black square&#10;&#10;Description automatically generated with medium confidence"/>
          <p:cNvPicPr preferRelativeResize="0"/>
          <p:nvPr/>
        </p:nvPicPr>
        <p:blipFill rotWithShape="1">
          <a:blip r:embed="rId13">
            <a:alphaModFix/>
          </a:blip>
          <a:srcRect/>
          <a:stretch/>
        </p:blipFill>
        <p:spPr>
          <a:xfrm>
            <a:off x="3806480" y="3580263"/>
            <a:ext cx="855461" cy="855461"/>
          </a:xfrm>
          <a:prstGeom prst="rect">
            <a:avLst/>
          </a:prstGeom>
          <a:noFill/>
          <a:ln>
            <a:noFill/>
          </a:ln>
        </p:spPr>
      </p:pic>
      <p:pic>
        <p:nvPicPr>
          <p:cNvPr id="123" name="Google Shape;123;p2" descr="A black background with a black square&#10;&#10;Description automatically generated with medium confidence"/>
          <p:cNvPicPr preferRelativeResize="0"/>
          <p:nvPr/>
        </p:nvPicPr>
        <p:blipFill rotWithShape="1">
          <a:blip r:embed="rId14">
            <a:alphaModFix/>
          </a:blip>
          <a:srcRect/>
          <a:stretch/>
        </p:blipFill>
        <p:spPr>
          <a:xfrm>
            <a:off x="3999855" y="4401442"/>
            <a:ext cx="457234" cy="457234"/>
          </a:xfrm>
          <a:prstGeom prst="rect">
            <a:avLst/>
          </a:prstGeom>
          <a:noFill/>
          <a:ln>
            <a:noFill/>
          </a:ln>
        </p:spPr>
      </p:pic>
      <p:pic>
        <p:nvPicPr>
          <p:cNvPr id="124" name="Google Shape;124;p2" descr="A black background with a black square&#10;&#10;Description automatically generated with medium confidence"/>
          <p:cNvPicPr preferRelativeResize="0"/>
          <p:nvPr/>
        </p:nvPicPr>
        <p:blipFill rotWithShape="1">
          <a:blip r:embed="rId15">
            <a:alphaModFix/>
          </a:blip>
          <a:srcRect/>
          <a:stretch/>
        </p:blipFill>
        <p:spPr>
          <a:xfrm>
            <a:off x="3872980" y="4967726"/>
            <a:ext cx="722459" cy="722459"/>
          </a:xfrm>
          <a:prstGeom prst="rect">
            <a:avLst/>
          </a:prstGeom>
          <a:noFill/>
          <a:ln>
            <a:noFill/>
          </a:ln>
        </p:spPr>
      </p:pic>
      <p:pic>
        <p:nvPicPr>
          <p:cNvPr id="125" name="Google Shape;125;p2" descr="A black background with a black square&#10;&#10;Description automatically generated with medium confidence"/>
          <p:cNvPicPr preferRelativeResize="0"/>
          <p:nvPr/>
        </p:nvPicPr>
        <p:blipFill rotWithShape="1">
          <a:blip r:embed="rId16">
            <a:alphaModFix/>
          </a:blip>
          <a:srcRect/>
          <a:stretch/>
        </p:blipFill>
        <p:spPr>
          <a:xfrm>
            <a:off x="4014845" y="5785351"/>
            <a:ext cx="457234" cy="4572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29"/>
        <p:cNvGrpSpPr/>
        <p:nvPr/>
      </p:nvGrpSpPr>
      <p:grpSpPr>
        <a:xfrm>
          <a:off x="0" y="0"/>
          <a:ext cx="0" cy="0"/>
          <a:chOff x="0" y="0"/>
          <a:chExt cx="0" cy="0"/>
        </a:xfrm>
      </p:grpSpPr>
      <p:sp>
        <p:nvSpPr>
          <p:cNvPr id="130" name="Google Shape;130;p3"/>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31" name="Google Shape;131;p3"/>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3"/>
          <p:cNvSpPr/>
          <p:nvPr/>
        </p:nvSpPr>
        <p:spPr>
          <a:xfrm>
            <a:off x="0" y="3286975"/>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33" name="Google Shape;133;p3"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34" name="Google Shape;134;p3"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35" name="Google Shape;135;p3"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36" name="Google Shape;136;p3"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37" name="Google Shape;137;p3"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38" name="Google Shape;138;p3"/>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39" name="Google Shape;139;p3"/>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140" name="Google Shape;140;p3"/>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Revenue</a:t>
            </a:r>
            <a:endParaRPr sz="2000">
              <a:solidFill>
                <a:schemeClr val="lt1"/>
              </a:solidFill>
              <a:latin typeface="Poppins"/>
              <a:ea typeface="Poppins"/>
              <a:cs typeface="Poppins"/>
              <a:sym typeface="Poppins"/>
            </a:endParaRPr>
          </a:p>
        </p:txBody>
      </p:sp>
      <p:sp>
        <p:nvSpPr>
          <p:cNvPr id="141" name="Google Shape;141;p3"/>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142" name="Google Shape;142;p3"/>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143" name="Google Shape;143;p3"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44" name="Google Shape;144;p3"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sp>
        <p:nvSpPr>
          <p:cNvPr id="2" name="TextBox 1">
            <a:extLst>
              <a:ext uri="{FF2B5EF4-FFF2-40B4-BE49-F238E27FC236}">
                <a16:creationId xmlns:a16="http://schemas.microsoft.com/office/drawing/2014/main" id="{CC9D9CB8-3C37-5CB6-B9F5-4E623A4250B4}"/>
              </a:ext>
            </a:extLst>
          </p:cNvPr>
          <p:cNvSpPr txBox="1"/>
          <p:nvPr/>
        </p:nvSpPr>
        <p:spPr>
          <a:xfrm>
            <a:off x="4298210" y="1021667"/>
            <a:ext cx="6572232" cy="4001095"/>
          </a:xfrm>
          <a:prstGeom prst="rect">
            <a:avLst/>
          </a:prstGeom>
          <a:noFill/>
        </p:spPr>
        <p:txBody>
          <a:bodyPr wrap="squar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The revenue analysis shows that </a:t>
            </a:r>
            <a:r>
              <a:rPr lang="en-US" sz="2000" b="1" dirty="0">
                <a:latin typeface="ADLaM Display" panose="02010000000000000000" pitchFamily="2" charset="0"/>
                <a:ea typeface="ADLaM Display" panose="02010000000000000000" pitchFamily="2" charset="0"/>
                <a:cs typeface="ADLaM Display" panose="02010000000000000000" pitchFamily="2" charset="0"/>
              </a:rPr>
              <a:t>Prime Sedans and Prime SUVs generate the highest total booking value</a:t>
            </a:r>
            <a:r>
              <a:rPr lang="en-US" sz="2000" dirty="0">
                <a:latin typeface="ADLaM Display" panose="02010000000000000000" pitchFamily="2" charset="0"/>
                <a:ea typeface="ADLaM Display" panose="02010000000000000000" pitchFamily="2" charset="0"/>
                <a:cs typeface="ADLaM Display" panose="02010000000000000000" pitchFamily="2" charset="0"/>
              </a:rPr>
              <a:t>, contributing the most to overall earnings. </a:t>
            </a:r>
            <a:r>
              <a:rPr lang="en-US" sz="2000" b="1" dirty="0">
                <a:latin typeface="ADLaM Display" panose="02010000000000000000" pitchFamily="2" charset="0"/>
                <a:ea typeface="ADLaM Display" panose="02010000000000000000" pitchFamily="2" charset="0"/>
                <a:cs typeface="ADLaM Display" panose="02010000000000000000" pitchFamily="2" charset="0"/>
              </a:rPr>
              <a:t>Mini and Mini SUVs</a:t>
            </a:r>
            <a:r>
              <a:rPr lang="en-US" sz="2000" dirty="0">
                <a:latin typeface="ADLaM Display" panose="02010000000000000000" pitchFamily="2" charset="0"/>
                <a:ea typeface="ADLaM Display" panose="02010000000000000000" pitchFamily="2" charset="0"/>
                <a:cs typeface="ADLaM Display" panose="02010000000000000000" pitchFamily="2" charset="0"/>
              </a:rPr>
              <a:t> provide moderate revenue, catering mainly to short- to medium-distance trips, while </a:t>
            </a:r>
            <a:r>
              <a:rPr lang="en-US" sz="2000" b="1" dirty="0">
                <a:latin typeface="ADLaM Display" panose="02010000000000000000" pitchFamily="2" charset="0"/>
                <a:ea typeface="ADLaM Display" panose="02010000000000000000" pitchFamily="2" charset="0"/>
                <a:cs typeface="ADLaM Display" panose="02010000000000000000" pitchFamily="2" charset="0"/>
              </a:rPr>
              <a:t>Autos and Bikes</a:t>
            </a:r>
            <a:r>
              <a:rPr lang="en-US" sz="2000" dirty="0">
                <a:latin typeface="ADLaM Display" panose="02010000000000000000" pitchFamily="2" charset="0"/>
                <a:ea typeface="ADLaM Display" panose="02010000000000000000" pitchFamily="2" charset="0"/>
                <a:cs typeface="ADLaM Display" panose="02010000000000000000" pitchFamily="2" charset="0"/>
              </a:rPr>
              <a:t> generate the least revenue due to shorter rides and lower booking amounts. A significant portion of the total revenue comes from </a:t>
            </a:r>
            <a:r>
              <a:rPr lang="en-US" sz="2000" b="1" dirty="0">
                <a:latin typeface="ADLaM Display" panose="02010000000000000000" pitchFamily="2" charset="0"/>
                <a:ea typeface="ADLaM Display" panose="02010000000000000000" pitchFamily="2" charset="0"/>
                <a:cs typeface="ADLaM Display" panose="02010000000000000000" pitchFamily="2" charset="0"/>
              </a:rPr>
              <a:t>successful bookings</a:t>
            </a:r>
            <a:r>
              <a:rPr lang="en-US" sz="2000" dirty="0">
                <a:latin typeface="ADLaM Display" panose="02010000000000000000" pitchFamily="2" charset="0"/>
                <a:ea typeface="ADLaM Display" panose="02010000000000000000" pitchFamily="2" charset="0"/>
                <a:cs typeface="ADLaM Display" panose="02010000000000000000" pitchFamily="2" charset="0"/>
              </a:rPr>
              <a:t>, indicating a healthy ride fulfillment rate across all vehicle types. Overall, focusing on premium vehicles and loyal, high-value customers can further optimize revenue growth.</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48"/>
        <p:cNvGrpSpPr/>
        <p:nvPr/>
      </p:nvGrpSpPr>
      <p:grpSpPr>
        <a:xfrm>
          <a:off x="0" y="0"/>
          <a:ext cx="0" cy="0"/>
          <a:chOff x="0" y="0"/>
          <a:chExt cx="0" cy="0"/>
        </a:xfrm>
      </p:grpSpPr>
      <p:sp>
        <p:nvSpPr>
          <p:cNvPr id="149" name="Google Shape;149;p4"/>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50" name="Google Shape;150;p4"/>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4"/>
          <p:cNvSpPr/>
          <p:nvPr/>
        </p:nvSpPr>
        <p:spPr>
          <a:xfrm>
            <a:off x="0" y="4369309"/>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2" name="Google Shape;152;p4"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53" name="Google Shape;153;p4"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54" name="Google Shape;154;p4"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55" name="Google Shape;155;p4"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56" name="Google Shape;156;p4"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57" name="Google Shape;157;p4"/>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58" name="Google Shape;158;p4"/>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159" name="Google Shape;159;p4"/>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160" name="Google Shape;160;p4"/>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Cancellation</a:t>
            </a:r>
            <a:endParaRPr sz="2000">
              <a:solidFill>
                <a:schemeClr val="lt1"/>
              </a:solidFill>
              <a:latin typeface="Poppins"/>
              <a:ea typeface="Poppins"/>
              <a:cs typeface="Poppins"/>
              <a:sym typeface="Poppins"/>
            </a:endParaRPr>
          </a:p>
        </p:txBody>
      </p:sp>
      <p:sp>
        <p:nvSpPr>
          <p:cNvPr id="161" name="Google Shape;161;p4"/>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162" name="Google Shape;162;p4"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63" name="Google Shape;163;p4"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sp>
        <p:nvSpPr>
          <p:cNvPr id="3" name="Rectangle 1">
            <a:extLst>
              <a:ext uri="{FF2B5EF4-FFF2-40B4-BE49-F238E27FC236}">
                <a16:creationId xmlns:a16="http://schemas.microsoft.com/office/drawing/2014/main" id="{B6821EC4-1E77-F32D-A8C5-88FDB8F4A10E}"/>
              </a:ext>
            </a:extLst>
          </p:cNvPr>
          <p:cNvSpPr>
            <a:spLocks noChangeArrowheads="1"/>
          </p:cNvSpPr>
          <p:nvPr/>
        </p:nvSpPr>
        <p:spPr bwMode="auto">
          <a:xfrm>
            <a:off x="3802503" y="714324"/>
            <a:ext cx="683124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cancellation analysis shows that </a:t>
            </a:r>
            <a:r>
              <a:rPr kumimoji="0" lang="en-US" altLang="en-US" sz="2400" b="1" i="0" u="none" strike="noStrike" cap="none" normalizeH="0" baseline="0" dirty="0">
                <a:ln>
                  <a:noFill/>
                </a:ln>
                <a:solidFill>
                  <a:schemeClr val="tx1"/>
                </a:solidFill>
                <a:effectLst/>
                <a:latin typeface="Arial" panose="020B0604020202020204" pitchFamily="34" charset="0"/>
              </a:rPr>
              <a:t>customer cancellations are significantly higher than driver cancellations</a:t>
            </a:r>
            <a:r>
              <a:rPr kumimoji="0" lang="en-US" altLang="en-US" sz="2400" b="0" i="0" u="none" strike="noStrike" cap="none" normalizeH="0" baseline="0" dirty="0">
                <a:ln>
                  <a:noFill/>
                </a:ln>
                <a:solidFill>
                  <a:schemeClr val="tx1"/>
                </a:solidFill>
                <a:effectLst/>
                <a:latin typeface="Arial" panose="020B0604020202020204" pitchFamily="34" charset="0"/>
              </a:rPr>
              <a:t>, indicating that ride demand is more affected by user-side changes. Among driver cancellations, most occur due to </a:t>
            </a:r>
            <a:r>
              <a:rPr kumimoji="0" lang="en-US" altLang="en-US" sz="2400" b="1" i="0" u="none" strike="noStrike" cap="none" normalizeH="0" baseline="0" dirty="0">
                <a:ln>
                  <a:noFill/>
                </a:ln>
                <a:solidFill>
                  <a:schemeClr val="tx1"/>
                </a:solidFill>
                <a:effectLst/>
                <a:latin typeface="Arial" panose="020B0604020202020204" pitchFamily="34" charset="0"/>
              </a:rPr>
              <a:t>personal reasons or car-related issues</a:t>
            </a:r>
            <a:r>
              <a:rPr kumimoji="0" lang="en-US" altLang="en-US" sz="2400" b="0" i="0" u="none" strike="noStrike" cap="none" normalizeH="0" baseline="0" dirty="0">
                <a:ln>
                  <a:noFill/>
                </a:ln>
                <a:solidFill>
                  <a:schemeClr val="tx1"/>
                </a:solidFill>
                <a:effectLst/>
                <a:latin typeface="Arial" panose="020B0604020202020204" pitchFamily="34" charset="0"/>
              </a:rPr>
              <a:t>, though these account for a smaller portion of total rides. Premium vehicles like </a:t>
            </a:r>
            <a:r>
              <a:rPr kumimoji="0" lang="en-US" altLang="en-US" sz="2400" b="1" i="0" u="none" strike="noStrike" cap="none" normalizeH="0" baseline="0" dirty="0">
                <a:ln>
                  <a:noFill/>
                </a:ln>
                <a:solidFill>
                  <a:schemeClr val="tx1"/>
                </a:solidFill>
                <a:effectLst/>
                <a:latin typeface="Arial" panose="020B0604020202020204" pitchFamily="34" charset="0"/>
              </a:rPr>
              <a:t>Prime Sedans and SUVs</a:t>
            </a:r>
            <a:r>
              <a:rPr kumimoji="0" lang="en-US" altLang="en-US" sz="2400" b="0" i="0" u="none" strike="noStrike" cap="none" normalizeH="0" baseline="0" dirty="0">
                <a:ln>
                  <a:noFill/>
                </a:ln>
                <a:solidFill>
                  <a:schemeClr val="tx1"/>
                </a:solidFill>
                <a:effectLst/>
                <a:latin typeface="Arial" panose="020B0604020202020204" pitchFamily="34" charset="0"/>
              </a:rPr>
              <a:t> have slightly lower cancellation rates, while smaller vehicles and bikes see more frequent customer cancellations. Reducing customer cancellations and addressing the reasons behind driver cancellations can help improve overall ride completion and operational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67"/>
        <p:cNvGrpSpPr/>
        <p:nvPr/>
      </p:nvGrpSpPr>
      <p:grpSpPr>
        <a:xfrm>
          <a:off x="0" y="0"/>
          <a:ext cx="0" cy="0"/>
          <a:chOff x="0" y="0"/>
          <a:chExt cx="0" cy="0"/>
        </a:xfrm>
      </p:grpSpPr>
      <p:graphicFrame>
        <p:nvGraphicFramePr>
          <p:cNvPr id="168" name="Google Shape;168;p5"/>
          <p:cNvGraphicFramePr/>
          <p:nvPr>
            <p:extLst>
              <p:ext uri="{D42A27DB-BD31-4B8C-83A1-F6EECF244321}">
                <p14:modId xmlns:p14="http://schemas.microsoft.com/office/powerpoint/2010/main" val="3305957894"/>
              </p:ext>
            </p:extLst>
          </p:nvPr>
        </p:nvGraphicFramePr>
        <p:xfrm>
          <a:off x="3439615" y="1705192"/>
          <a:ext cx="8128050" cy="1393320"/>
        </p:xfrm>
        <a:graphic>
          <a:graphicData uri="http://schemas.openxmlformats.org/drawingml/2006/table">
            <a:tbl>
              <a:tblPr firstRow="1" bandRow="1">
                <a:noFill/>
                <a:tableStyleId>{88C06543-E3CC-495D-A703-477479BDC3B9}</a:tableStyleId>
              </a:tblPr>
              <a:tblGrid>
                <a:gridCol w="1161150">
                  <a:extLst>
                    <a:ext uri="{9D8B030D-6E8A-4147-A177-3AD203B41FA5}">
                      <a16:colId xmlns:a16="http://schemas.microsoft.com/office/drawing/2014/main" val="20000"/>
                    </a:ext>
                  </a:extLst>
                </a:gridCol>
                <a:gridCol w="1161150">
                  <a:extLst>
                    <a:ext uri="{9D8B030D-6E8A-4147-A177-3AD203B41FA5}">
                      <a16:colId xmlns:a16="http://schemas.microsoft.com/office/drawing/2014/main" val="20001"/>
                    </a:ext>
                  </a:extLst>
                </a:gridCol>
                <a:gridCol w="1161150">
                  <a:extLst>
                    <a:ext uri="{9D8B030D-6E8A-4147-A177-3AD203B41FA5}">
                      <a16:colId xmlns:a16="http://schemas.microsoft.com/office/drawing/2014/main" val="20002"/>
                    </a:ext>
                  </a:extLst>
                </a:gridCol>
                <a:gridCol w="1161150">
                  <a:extLst>
                    <a:ext uri="{9D8B030D-6E8A-4147-A177-3AD203B41FA5}">
                      <a16:colId xmlns:a16="http://schemas.microsoft.com/office/drawing/2014/main" val="20003"/>
                    </a:ext>
                  </a:extLst>
                </a:gridCol>
                <a:gridCol w="1161150">
                  <a:extLst>
                    <a:ext uri="{9D8B030D-6E8A-4147-A177-3AD203B41FA5}">
                      <a16:colId xmlns:a16="http://schemas.microsoft.com/office/drawing/2014/main" val="20004"/>
                    </a:ext>
                  </a:extLst>
                </a:gridCol>
                <a:gridCol w="1161150">
                  <a:extLst>
                    <a:ext uri="{9D8B030D-6E8A-4147-A177-3AD203B41FA5}">
                      <a16:colId xmlns:a16="http://schemas.microsoft.com/office/drawing/2014/main" val="20005"/>
                    </a:ext>
                  </a:extLst>
                </a:gridCol>
                <a:gridCol w="1161150">
                  <a:extLst>
                    <a:ext uri="{9D8B030D-6E8A-4147-A177-3AD203B41FA5}">
                      <a16:colId xmlns:a16="http://schemas.microsoft.com/office/drawing/2014/main" val="20006"/>
                    </a:ext>
                  </a:extLst>
                </a:gridCol>
              </a:tblGrid>
              <a:tr h="813150">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Sedan</a:t>
                      </a:r>
                      <a:endParaRPr sz="1200" u="none" strike="noStrike" cap="none">
                        <a:solidFill>
                          <a:srgbClr val="0C0C0C"/>
                        </a:solidFill>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SUV</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Plus</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Mini</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Auto</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E-Bike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570350">
                <a:tc>
                  <a:txBody>
                    <a:bodyPr/>
                    <a:lstStyle/>
                    <a:p>
                      <a:pPr marL="0" marR="0" lvl="0" indent="0" algn="l" rtl="0">
                        <a:spcBef>
                          <a:spcPts val="0"/>
                        </a:spcBef>
                        <a:spcAft>
                          <a:spcPts val="0"/>
                        </a:spcAft>
                        <a:buNone/>
                      </a:pPr>
                      <a:r>
                        <a:rPr lang="en-US" sz="1800" dirty="0"/>
                        <a:t>4.65</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4.68</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4.50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4.60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4.50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4.55</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4.75</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69" name="Google Shape;169;p5"/>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70" name="Google Shape;170;p5"/>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5"/>
          <p:cNvSpPr/>
          <p:nvPr/>
        </p:nvSpPr>
        <p:spPr>
          <a:xfrm>
            <a:off x="0" y="5530674"/>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2" name="Google Shape;172;p5"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73" name="Google Shape;173;p5"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74" name="Google Shape;174;p5"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75" name="Google Shape;175;p5"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76" name="Google Shape;176;p5"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77" name="Google Shape;177;p5"/>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78" name="Google Shape;178;p5"/>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179" name="Google Shape;179;p5"/>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180" name="Google Shape;180;p5"/>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181" name="Google Shape;181;p5"/>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Ratings</a:t>
            </a:r>
            <a:endParaRPr sz="2000">
              <a:solidFill>
                <a:schemeClr val="lt1"/>
              </a:solidFill>
              <a:latin typeface="Poppins"/>
              <a:ea typeface="Poppins"/>
              <a:cs typeface="Poppins"/>
              <a:sym typeface="Poppins"/>
            </a:endParaRPr>
          </a:p>
        </p:txBody>
      </p:sp>
      <p:pic>
        <p:nvPicPr>
          <p:cNvPr id="182" name="Google Shape;182;p5"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83" name="Google Shape;183;p5"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pic>
        <p:nvPicPr>
          <p:cNvPr id="184" name="Google Shape;184;p5" descr="A black background with a black square&#10;&#10;Description automatically generated with medium confidence"/>
          <p:cNvPicPr preferRelativeResize="0"/>
          <p:nvPr/>
        </p:nvPicPr>
        <p:blipFill rotWithShape="1">
          <a:blip r:embed="rId10">
            <a:alphaModFix/>
          </a:blip>
          <a:srcRect/>
          <a:stretch/>
        </p:blipFill>
        <p:spPr>
          <a:xfrm>
            <a:off x="3582022" y="1572711"/>
            <a:ext cx="956874" cy="956874"/>
          </a:xfrm>
          <a:prstGeom prst="rect">
            <a:avLst/>
          </a:prstGeom>
          <a:noFill/>
          <a:ln>
            <a:noFill/>
          </a:ln>
        </p:spPr>
      </p:pic>
      <p:pic>
        <p:nvPicPr>
          <p:cNvPr id="185" name="Google Shape;185;p5" descr="A black background with a black square&#10;&#10;Description automatically generated with medium confidence"/>
          <p:cNvPicPr preferRelativeResize="0"/>
          <p:nvPr/>
        </p:nvPicPr>
        <p:blipFill rotWithShape="1">
          <a:blip r:embed="rId11">
            <a:alphaModFix/>
          </a:blip>
          <a:srcRect/>
          <a:stretch/>
        </p:blipFill>
        <p:spPr>
          <a:xfrm>
            <a:off x="4790740" y="1612273"/>
            <a:ext cx="855461" cy="855461"/>
          </a:xfrm>
          <a:prstGeom prst="rect">
            <a:avLst/>
          </a:prstGeom>
          <a:noFill/>
          <a:ln>
            <a:noFill/>
          </a:ln>
        </p:spPr>
      </p:pic>
      <p:pic>
        <p:nvPicPr>
          <p:cNvPr id="186" name="Google Shape;186;p5" descr="A black background with a black square&#10;&#10;Description automatically generated with medium confidence"/>
          <p:cNvPicPr preferRelativeResize="0"/>
          <p:nvPr/>
        </p:nvPicPr>
        <p:blipFill rotWithShape="1">
          <a:blip r:embed="rId12">
            <a:alphaModFix/>
          </a:blip>
          <a:srcRect/>
          <a:stretch/>
        </p:blipFill>
        <p:spPr>
          <a:xfrm>
            <a:off x="7068690" y="1690587"/>
            <a:ext cx="855461" cy="855461"/>
          </a:xfrm>
          <a:prstGeom prst="rect">
            <a:avLst/>
          </a:prstGeom>
          <a:noFill/>
          <a:ln>
            <a:noFill/>
          </a:ln>
        </p:spPr>
      </p:pic>
      <p:pic>
        <p:nvPicPr>
          <p:cNvPr id="187" name="Google Shape;187;p5" descr="A black background with a black square&#10;&#10;Description automatically generated with medium confidence"/>
          <p:cNvPicPr preferRelativeResize="0"/>
          <p:nvPr/>
        </p:nvPicPr>
        <p:blipFill rotWithShape="1">
          <a:blip r:embed="rId13">
            <a:alphaModFix/>
          </a:blip>
          <a:srcRect/>
          <a:stretch/>
        </p:blipFill>
        <p:spPr>
          <a:xfrm>
            <a:off x="8439474" y="1801135"/>
            <a:ext cx="457234" cy="457234"/>
          </a:xfrm>
          <a:prstGeom prst="rect">
            <a:avLst/>
          </a:prstGeom>
          <a:noFill/>
          <a:ln>
            <a:noFill/>
          </a:ln>
        </p:spPr>
      </p:pic>
      <p:pic>
        <p:nvPicPr>
          <p:cNvPr id="188" name="Google Shape;188;p5" descr="A black background with a black square&#10;&#10;Description automatically generated with medium confidence"/>
          <p:cNvPicPr preferRelativeResize="0"/>
          <p:nvPr/>
        </p:nvPicPr>
        <p:blipFill rotWithShape="1">
          <a:blip r:embed="rId14">
            <a:alphaModFix/>
          </a:blip>
          <a:srcRect/>
          <a:stretch/>
        </p:blipFill>
        <p:spPr>
          <a:xfrm>
            <a:off x="9426701" y="1653397"/>
            <a:ext cx="722459" cy="722459"/>
          </a:xfrm>
          <a:prstGeom prst="rect">
            <a:avLst/>
          </a:prstGeom>
          <a:noFill/>
          <a:ln>
            <a:noFill/>
          </a:ln>
        </p:spPr>
      </p:pic>
      <p:pic>
        <p:nvPicPr>
          <p:cNvPr id="189" name="Google Shape;189;p5" descr="A black background with a black square&#10;&#10;Description automatically generated with medium confidence"/>
          <p:cNvPicPr preferRelativeResize="0"/>
          <p:nvPr/>
        </p:nvPicPr>
        <p:blipFill rotWithShape="1">
          <a:blip r:embed="rId15">
            <a:alphaModFix/>
          </a:blip>
          <a:srcRect/>
          <a:stretch/>
        </p:blipFill>
        <p:spPr>
          <a:xfrm>
            <a:off x="10714204" y="1774447"/>
            <a:ext cx="457234" cy="457234"/>
          </a:xfrm>
          <a:prstGeom prst="rect">
            <a:avLst/>
          </a:prstGeom>
          <a:noFill/>
          <a:ln>
            <a:noFill/>
          </a:ln>
        </p:spPr>
      </p:pic>
      <p:pic>
        <p:nvPicPr>
          <p:cNvPr id="190" name="Google Shape;190;p5" descr="A black background with a black square&#10;&#10;Description automatically generated with medium confidence"/>
          <p:cNvPicPr preferRelativeResize="0"/>
          <p:nvPr/>
        </p:nvPicPr>
        <p:blipFill rotWithShape="1">
          <a:blip r:embed="rId11">
            <a:alphaModFix/>
          </a:blip>
          <a:srcRect/>
          <a:stretch/>
        </p:blipFill>
        <p:spPr>
          <a:xfrm>
            <a:off x="5914725" y="1623417"/>
            <a:ext cx="855461" cy="855461"/>
          </a:xfrm>
          <a:prstGeom prst="rect">
            <a:avLst/>
          </a:prstGeom>
          <a:noFill/>
          <a:ln>
            <a:noFill/>
          </a:ln>
        </p:spPr>
      </p:pic>
      <p:graphicFrame>
        <p:nvGraphicFramePr>
          <p:cNvPr id="191" name="Google Shape;191;p5"/>
          <p:cNvGraphicFramePr/>
          <p:nvPr>
            <p:extLst>
              <p:ext uri="{D42A27DB-BD31-4B8C-83A1-F6EECF244321}">
                <p14:modId xmlns:p14="http://schemas.microsoft.com/office/powerpoint/2010/main" val="114096428"/>
              </p:ext>
            </p:extLst>
          </p:nvPr>
        </p:nvGraphicFramePr>
        <p:xfrm>
          <a:off x="3472094" y="4016172"/>
          <a:ext cx="8128050" cy="1393320"/>
        </p:xfrm>
        <a:graphic>
          <a:graphicData uri="http://schemas.openxmlformats.org/drawingml/2006/table">
            <a:tbl>
              <a:tblPr firstRow="1" bandRow="1">
                <a:noFill/>
                <a:tableStyleId>{88C06543-E3CC-495D-A703-477479BDC3B9}</a:tableStyleId>
              </a:tblPr>
              <a:tblGrid>
                <a:gridCol w="1161150">
                  <a:extLst>
                    <a:ext uri="{9D8B030D-6E8A-4147-A177-3AD203B41FA5}">
                      <a16:colId xmlns:a16="http://schemas.microsoft.com/office/drawing/2014/main" val="20000"/>
                    </a:ext>
                  </a:extLst>
                </a:gridCol>
                <a:gridCol w="1161150">
                  <a:extLst>
                    <a:ext uri="{9D8B030D-6E8A-4147-A177-3AD203B41FA5}">
                      <a16:colId xmlns:a16="http://schemas.microsoft.com/office/drawing/2014/main" val="20001"/>
                    </a:ext>
                  </a:extLst>
                </a:gridCol>
                <a:gridCol w="1161150">
                  <a:extLst>
                    <a:ext uri="{9D8B030D-6E8A-4147-A177-3AD203B41FA5}">
                      <a16:colId xmlns:a16="http://schemas.microsoft.com/office/drawing/2014/main" val="20002"/>
                    </a:ext>
                  </a:extLst>
                </a:gridCol>
                <a:gridCol w="1161150">
                  <a:extLst>
                    <a:ext uri="{9D8B030D-6E8A-4147-A177-3AD203B41FA5}">
                      <a16:colId xmlns:a16="http://schemas.microsoft.com/office/drawing/2014/main" val="20003"/>
                    </a:ext>
                  </a:extLst>
                </a:gridCol>
                <a:gridCol w="1161150">
                  <a:extLst>
                    <a:ext uri="{9D8B030D-6E8A-4147-A177-3AD203B41FA5}">
                      <a16:colId xmlns:a16="http://schemas.microsoft.com/office/drawing/2014/main" val="20004"/>
                    </a:ext>
                  </a:extLst>
                </a:gridCol>
                <a:gridCol w="1161150">
                  <a:extLst>
                    <a:ext uri="{9D8B030D-6E8A-4147-A177-3AD203B41FA5}">
                      <a16:colId xmlns:a16="http://schemas.microsoft.com/office/drawing/2014/main" val="20005"/>
                    </a:ext>
                  </a:extLst>
                </a:gridCol>
                <a:gridCol w="1161150">
                  <a:extLst>
                    <a:ext uri="{9D8B030D-6E8A-4147-A177-3AD203B41FA5}">
                      <a16:colId xmlns:a16="http://schemas.microsoft.com/office/drawing/2014/main" val="20006"/>
                    </a:ext>
                  </a:extLst>
                </a:gridCol>
              </a:tblGrid>
              <a:tr h="813150">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Prime Sedan</a:t>
                      </a:r>
                      <a:endParaRPr sz="1200">
                        <a:solidFill>
                          <a:srgbClr val="0C0C0C"/>
                        </a:solidFill>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Prime SUV</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Prime Plus</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Mini</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Auto</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endParaRPr sz="1200">
                        <a:solidFill>
                          <a:srgbClr val="0C0C0C"/>
                        </a:solidFill>
                      </a:endParaRPr>
                    </a:p>
                    <a:p>
                      <a:pPr marL="0" marR="0" lvl="0" indent="0" algn="ctr" rtl="0">
                        <a:spcBef>
                          <a:spcPts val="0"/>
                        </a:spcBef>
                        <a:spcAft>
                          <a:spcPts val="0"/>
                        </a:spcAft>
                        <a:buNone/>
                      </a:pPr>
                      <a:r>
                        <a:rPr lang="en-US" sz="1200">
                          <a:solidFill>
                            <a:srgbClr val="0C0C0C"/>
                          </a:solidFill>
                        </a:rPr>
                        <a:t>E-Bike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570350">
                <a:tc>
                  <a:txBody>
                    <a:bodyPr/>
                    <a:lstStyle/>
                    <a:p>
                      <a:pPr marL="0" marR="0" lvl="0" indent="0" algn="l" rtl="0">
                        <a:spcBef>
                          <a:spcPts val="0"/>
                        </a:spcBef>
                        <a:spcAft>
                          <a:spcPts val="0"/>
                        </a:spcAft>
                        <a:buNone/>
                      </a:pPr>
                      <a:r>
                        <a:rPr lang="en-US" sz="1800" dirty="0"/>
                        <a:t>4.70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4.72</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4.85</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4.62</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4.55</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4.58</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4.56</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92" name="Google Shape;192;p5" descr="A black background with a black square&#10;&#10;Description automatically generated with medium confidence"/>
          <p:cNvPicPr preferRelativeResize="0"/>
          <p:nvPr/>
        </p:nvPicPr>
        <p:blipFill rotWithShape="1">
          <a:blip r:embed="rId10">
            <a:alphaModFix/>
          </a:blip>
          <a:srcRect/>
          <a:stretch/>
        </p:blipFill>
        <p:spPr>
          <a:xfrm>
            <a:off x="3614501" y="3883691"/>
            <a:ext cx="956874" cy="956874"/>
          </a:xfrm>
          <a:prstGeom prst="rect">
            <a:avLst/>
          </a:prstGeom>
          <a:noFill/>
          <a:ln>
            <a:noFill/>
          </a:ln>
        </p:spPr>
      </p:pic>
      <p:pic>
        <p:nvPicPr>
          <p:cNvPr id="193" name="Google Shape;193;p5" descr="A black background with a black square&#10;&#10;Description automatically generated with medium confidence"/>
          <p:cNvPicPr preferRelativeResize="0"/>
          <p:nvPr/>
        </p:nvPicPr>
        <p:blipFill rotWithShape="1">
          <a:blip r:embed="rId11">
            <a:alphaModFix/>
          </a:blip>
          <a:srcRect/>
          <a:stretch/>
        </p:blipFill>
        <p:spPr>
          <a:xfrm>
            <a:off x="4823219" y="3923253"/>
            <a:ext cx="855461" cy="855461"/>
          </a:xfrm>
          <a:prstGeom prst="rect">
            <a:avLst/>
          </a:prstGeom>
          <a:noFill/>
          <a:ln>
            <a:noFill/>
          </a:ln>
        </p:spPr>
      </p:pic>
      <p:pic>
        <p:nvPicPr>
          <p:cNvPr id="194" name="Google Shape;194;p5" descr="A black background with a black square&#10;&#10;Description automatically generated with medium confidence"/>
          <p:cNvPicPr preferRelativeResize="0"/>
          <p:nvPr/>
        </p:nvPicPr>
        <p:blipFill rotWithShape="1">
          <a:blip r:embed="rId12">
            <a:alphaModFix/>
          </a:blip>
          <a:srcRect/>
          <a:stretch/>
        </p:blipFill>
        <p:spPr>
          <a:xfrm>
            <a:off x="7101169" y="4001567"/>
            <a:ext cx="855461" cy="855461"/>
          </a:xfrm>
          <a:prstGeom prst="rect">
            <a:avLst/>
          </a:prstGeom>
          <a:noFill/>
          <a:ln>
            <a:noFill/>
          </a:ln>
        </p:spPr>
      </p:pic>
      <p:pic>
        <p:nvPicPr>
          <p:cNvPr id="195" name="Google Shape;195;p5" descr="A black background with a black square&#10;&#10;Description automatically generated with medium confidence"/>
          <p:cNvPicPr preferRelativeResize="0"/>
          <p:nvPr/>
        </p:nvPicPr>
        <p:blipFill rotWithShape="1">
          <a:blip r:embed="rId13">
            <a:alphaModFix/>
          </a:blip>
          <a:srcRect/>
          <a:stretch/>
        </p:blipFill>
        <p:spPr>
          <a:xfrm>
            <a:off x="8471953" y="4112115"/>
            <a:ext cx="457234" cy="457234"/>
          </a:xfrm>
          <a:prstGeom prst="rect">
            <a:avLst/>
          </a:prstGeom>
          <a:noFill/>
          <a:ln>
            <a:noFill/>
          </a:ln>
        </p:spPr>
      </p:pic>
      <p:pic>
        <p:nvPicPr>
          <p:cNvPr id="196" name="Google Shape;196;p5" descr="A black background with a black square&#10;&#10;Description automatically generated with medium confidence"/>
          <p:cNvPicPr preferRelativeResize="0"/>
          <p:nvPr/>
        </p:nvPicPr>
        <p:blipFill rotWithShape="1">
          <a:blip r:embed="rId14">
            <a:alphaModFix/>
          </a:blip>
          <a:srcRect/>
          <a:stretch/>
        </p:blipFill>
        <p:spPr>
          <a:xfrm>
            <a:off x="9459180" y="3964377"/>
            <a:ext cx="722459" cy="722459"/>
          </a:xfrm>
          <a:prstGeom prst="rect">
            <a:avLst/>
          </a:prstGeom>
          <a:noFill/>
          <a:ln>
            <a:noFill/>
          </a:ln>
        </p:spPr>
      </p:pic>
      <p:pic>
        <p:nvPicPr>
          <p:cNvPr id="197" name="Google Shape;197;p5" descr="A black background with a black square&#10;&#10;Description automatically generated with medium confidence"/>
          <p:cNvPicPr preferRelativeResize="0"/>
          <p:nvPr/>
        </p:nvPicPr>
        <p:blipFill rotWithShape="1">
          <a:blip r:embed="rId15">
            <a:alphaModFix/>
          </a:blip>
          <a:srcRect/>
          <a:stretch/>
        </p:blipFill>
        <p:spPr>
          <a:xfrm>
            <a:off x="10746683" y="4085427"/>
            <a:ext cx="457234" cy="457234"/>
          </a:xfrm>
          <a:prstGeom prst="rect">
            <a:avLst/>
          </a:prstGeom>
          <a:noFill/>
          <a:ln>
            <a:noFill/>
          </a:ln>
        </p:spPr>
      </p:pic>
      <p:pic>
        <p:nvPicPr>
          <p:cNvPr id="198" name="Google Shape;198;p5" descr="A black background with a black square&#10;&#10;Description automatically generated with medium confidence"/>
          <p:cNvPicPr preferRelativeResize="0"/>
          <p:nvPr/>
        </p:nvPicPr>
        <p:blipFill rotWithShape="1">
          <a:blip r:embed="rId11">
            <a:alphaModFix/>
          </a:blip>
          <a:srcRect/>
          <a:stretch/>
        </p:blipFill>
        <p:spPr>
          <a:xfrm>
            <a:off x="5947204" y="3934397"/>
            <a:ext cx="855461" cy="85546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0D6D1B3-48CE-B701-193B-FB6A7D4FEFB3}"/>
              </a:ext>
            </a:extLst>
          </p:cNvPr>
          <p:cNvSpPr>
            <a:spLocks noGrp="1"/>
          </p:cNvSpPr>
          <p:nvPr>
            <p:ph type="body" idx="1"/>
          </p:nvPr>
        </p:nvSpPr>
        <p:spPr/>
        <p:txBody>
          <a:bodyPr>
            <a:normAutofit fontScale="85000" lnSpcReduction="10000"/>
          </a:bodyPr>
          <a:lstStyle/>
          <a:p>
            <a:pPr marL="114300" indent="0">
              <a:buNone/>
            </a:pPr>
            <a:r>
              <a:rPr lang="en-US" sz="2600" dirty="0"/>
              <a:t>The OLA Ride Dashboard provides a comprehensive view of ride operations, revenue, cancellations, and ratings across all vehicle types. </a:t>
            </a:r>
            <a:r>
              <a:rPr lang="en-US" sz="2600" b="1" dirty="0"/>
              <a:t>Prime Sedans and SUVs</a:t>
            </a:r>
            <a:r>
              <a:rPr lang="en-US" sz="2600" dirty="0"/>
              <a:t> dominate in total revenue and longer ride distances, while </a:t>
            </a:r>
            <a:r>
              <a:rPr lang="en-US" sz="2600" b="1" dirty="0"/>
              <a:t>Autos and Bikes</a:t>
            </a:r>
            <a:r>
              <a:rPr lang="en-US" sz="2600" dirty="0"/>
              <a:t> cater mainly to short urban trips. </a:t>
            </a:r>
            <a:r>
              <a:rPr lang="en-US" sz="2600" b="1" dirty="0"/>
              <a:t>Customer cancellations</a:t>
            </a:r>
            <a:r>
              <a:rPr lang="en-US" sz="2600" dirty="0"/>
              <a:t> are higher than driver cancellations, with most driver cancellations due to personal or vehicle-related reasons. A small group of </a:t>
            </a:r>
            <a:r>
              <a:rPr lang="en-US" sz="2600" b="1" dirty="0"/>
              <a:t>top customers</a:t>
            </a:r>
            <a:r>
              <a:rPr lang="en-US" sz="2600" dirty="0"/>
              <a:t> contributes disproportionately to overall bookings and revenue, highlighting loyal users. </a:t>
            </a:r>
            <a:r>
              <a:rPr lang="en-US" sz="2600" b="1" dirty="0"/>
              <a:t>Ride distances</a:t>
            </a:r>
            <a:r>
              <a:rPr lang="en-US" sz="2600" dirty="0"/>
              <a:t> vary daily, with longer trips mostly in premium vehicles. </a:t>
            </a:r>
            <a:r>
              <a:rPr lang="en-US" sz="2600" b="1" dirty="0"/>
              <a:t>Driver and customer ratings</a:t>
            </a:r>
            <a:r>
              <a:rPr lang="en-US" sz="2600" dirty="0"/>
              <a:t> are generally high, with Prime Sedans and SUVs achieving the best scores, indicating strong service quality. Payment trends show a preference for </a:t>
            </a:r>
            <a:r>
              <a:rPr lang="en-US" sz="2600" b="1" dirty="0"/>
              <a:t>digital wallets and cards</a:t>
            </a:r>
            <a:r>
              <a:rPr lang="en-US" sz="2600" dirty="0"/>
              <a:t>, contributing significantly to revenue. The dashboard enables monitoring of </a:t>
            </a:r>
            <a:r>
              <a:rPr lang="en-US" sz="2600" b="1" dirty="0"/>
              <a:t>ride fulfillment, cancellations, and revenue per vehicle type</a:t>
            </a:r>
            <a:r>
              <a:rPr lang="en-US" sz="2600" dirty="0"/>
              <a:t>, supporting operational and strategic decision-making. Overall, the insights emphasize improving customer retention, reducing cancellations, and focusing on high-value vehicles and customers to maximize efficiency and revenue.</a:t>
            </a:r>
          </a:p>
          <a:p>
            <a:pPr marL="114300" indent="0">
              <a:buNone/>
            </a:pPr>
            <a:endParaRPr lang="en-IN" dirty="0"/>
          </a:p>
        </p:txBody>
      </p:sp>
      <p:sp>
        <p:nvSpPr>
          <p:cNvPr id="4" name="Google Shape;86;p1">
            <a:extLst>
              <a:ext uri="{FF2B5EF4-FFF2-40B4-BE49-F238E27FC236}">
                <a16:creationId xmlns:a16="http://schemas.microsoft.com/office/drawing/2014/main" id="{590E0F63-AC4E-D11B-F681-E312340BFB8F}"/>
              </a:ext>
            </a:extLst>
          </p:cNvPr>
          <p:cNvSpPr/>
          <p:nvPr/>
        </p:nvSpPr>
        <p:spPr>
          <a:xfrm>
            <a:off x="1" y="0"/>
            <a:ext cx="12192000" cy="1109379"/>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6E39CFAC-73B6-AB25-BBF2-C972DAEA7EF8}"/>
              </a:ext>
            </a:extLst>
          </p:cNvPr>
          <p:cNvPicPr preferRelativeResize="0"/>
          <p:nvPr/>
        </p:nvPicPr>
        <p:blipFill rotWithShape="1">
          <a:blip r:embed="rId2">
            <a:alphaModFix/>
          </a:blip>
          <a:srcRect/>
          <a:stretch/>
        </p:blipFill>
        <p:spPr>
          <a:xfrm>
            <a:off x="3704312" y="-11043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9978CCD1-AFC4-9531-61F4-90AF8C542930}"/>
              </a:ext>
            </a:extLst>
          </p:cNvPr>
          <p:cNvPicPr preferRelativeResize="0"/>
          <p:nvPr/>
        </p:nvPicPr>
        <p:blipFill rotWithShape="1">
          <a:blip r:embed="rId3">
            <a:alphaModFix/>
          </a:blip>
          <a:srcRect/>
          <a:stretch/>
        </p:blipFill>
        <p:spPr>
          <a:xfrm>
            <a:off x="4816839" y="249632"/>
            <a:ext cx="1279161" cy="683593"/>
          </a:xfrm>
          <a:prstGeom prst="rect">
            <a:avLst/>
          </a:prstGeom>
          <a:noFill/>
          <a:ln>
            <a:noFill/>
          </a:ln>
        </p:spPr>
      </p:pic>
    </p:spTree>
    <p:extLst>
      <p:ext uri="{BB962C8B-B14F-4D97-AF65-F5344CB8AC3E}">
        <p14:creationId xmlns:p14="http://schemas.microsoft.com/office/powerpoint/2010/main" val="741618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C4C930-9690-DFF5-8917-4CE908E36015}"/>
              </a:ext>
            </a:extLst>
          </p:cNvPr>
          <p:cNvSpPr>
            <a:spLocks noGrp="1"/>
          </p:cNvSpPr>
          <p:nvPr>
            <p:ph type="body" idx="1"/>
          </p:nvPr>
        </p:nvSpPr>
        <p:spPr/>
        <p:txBody>
          <a:bodyPr/>
          <a:lstStyle/>
          <a:p>
            <a:pPr marL="114300" indent="0">
              <a:buNone/>
            </a:pPr>
            <a:r>
              <a:rPr lang="en-US" dirty="0"/>
              <a:t>Power bi dashboard</a:t>
            </a:r>
          </a:p>
          <a:p>
            <a:pPr marL="114300" indent="0">
              <a:buNone/>
            </a:pPr>
            <a:endParaRPr lang="en-IN" dirty="0"/>
          </a:p>
        </p:txBody>
      </p:sp>
      <p:sp>
        <p:nvSpPr>
          <p:cNvPr id="4" name="Google Shape;169;p5">
            <a:extLst>
              <a:ext uri="{FF2B5EF4-FFF2-40B4-BE49-F238E27FC236}">
                <a16:creationId xmlns:a16="http://schemas.microsoft.com/office/drawing/2014/main" id="{B6228F89-2778-5F69-BC6F-BD3F124CD85D}"/>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3D6AA03B-25E0-4516-F713-493490BAD1C6}"/>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A7E27CC3-C31B-D945-58F8-06233EC6991C}"/>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pic>
        <p:nvPicPr>
          <p:cNvPr id="10" name="Picture 9" descr="A screenshot of a computer&#10;&#10;AI-generated content may be incorrect.">
            <a:extLst>
              <a:ext uri="{FF2B5EF4-FFF2-40B4-BE49-F238E27FC236}">
                <a16:creationId xmlns:a16="http://schemas.microsoft.com/office/drawing/2014/main" id="{418650B1-34F6-3494-AA49-578BFC9DC669}"/>
              </a:ext>
            </a:extLst>
          </p:cNvPr>
          <p:cNvPicPr>
            <a:picLocks noChangeAspect="1"/>
          </p:cNvPicPr>
          <p:nvPr/>
        </p:nvPicPr>
        <p:blipFill>
          <a:blip r:embed="rId4"/>
          <a:stretch>
            <a:fillRect/>
          </a:stretch>
        </p:blipFill>
        <p:spPr>
          <a:xfrm>
            <a:off x="775545" y="2445219"/>
            <a:ext cx="8560184" cy="4351338"/>
          </a:xfrm>
          <a:prstGeom prst="rect">
            <a:avLst/>
          </a:prstGeom>
        </p:spPr>
      </p:pic>
    </p:spTree>
    <p:extLst>
      <p:ext uri="{BB962C8B-B14F-4D97-AF65-F5344CB8AC3E}">
        <p14:creationId xmlns:p14="http://schemas.microsoft.com/office/powerpoint/2010/main" val="424955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DA81-CBDA-416F-BB0B-C3C981BE467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06616A0-CA59-63B7-7E21-E86C22D63F95}"/>
              </a:ext>
            </a:extLst>
          </p:cNvPr>
          <p:cNvSpPr>
            <a:spLocks noGrp="1"/>
          </p:cNvSpPr>
          <p:nvPr>
            <p:ph type="body" idx="1"/>
          </p:nvPr>
        </p:nvSpPr>
        <p:spPr>
          <a:xfrm>
            <a:off x="198619" y="1147217"/>
            <a:ext cx="10515600" cy="4351338"/>
          </a:xfrm>
        </p:spPr>
        <p:txBody>
          <a:bodyPr/>
          <a:lstStyle/>
          <a:p>
            <a:pPr marL="114300" indent="0">
              <a:buNone/>
            </a:pPr>
            <a:r>
              <a:rPr lang="en-US" dirty="0"/>
              <a:t>Power bi dashboard</a:t>
            </a:r>
          </a:p>
          <a:p>
            <a:pPr marL="114300" indent="0">
              <a:buNone/>
            </a:pPr>
            <a:endParaRPr lang="en-IN" dirty="0"/>
          </a:p>
        </p:txBody>
      </p:sp>
      <p:sp>
        <p:nvSpPr>
          <p:cNvPr id="4" name="Google Shape;169;p5">
            <a:extLst>
              <a:ext uri="{FF2B5EF4-FFF2-40B4-BE49-F238E27FC236}">
                <a16:creationId xmlns:a16="http://schemas.microsoft.com/office/drawing/2014/main" id="{083C1350-9C15-038E-1082-5BCC0C52125E}"/>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BBE3BDE5-190E-9C0D-5E8E-783D037AFE31}"/>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8E2118FB-3B69-5572-16C9-0D229731886B}"/>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pic>
        <p:nvPicPr>
          <p:cNvPr id="7" name="Picture 6" descr="A screenshot of a computer&#10;&#10;AI-generated content may be incorrect.">
            <a:extLst>
              <a:ext uri="{FF2B5EF4-FFF2-40B4-BE49-F238E27FC236}">
                <a16:creationId xmlns:a16="http://schemas.microsoft.com/office/drawing/2014/main" id="{6D57EAF1-2F2A-E67E-CC5D-5FFFC5BB2D26}"/>
              </a:ext>
            </a:extLst>
          </p:cNvPr>
          <p:cNvPicPr>
            <a:picLocks noChangeAspect="1"/>
          </p:cNvPicPr>
          <p:nvPr/>
        </p:nvPicPr>
        <p:blipFill>
          <a:blip r:embed="rId4"/>
          <a:stretch>
            <a:fillRect/>
          </a:stretch>
        </p:blipFill>
        <p:spPr>
          <a:xfrm>
            <a:off x="723150" y="1887794"/>
            <a:ext cx="10131663" cy="4970206"/>
          </a:xfrm>
          <a:prstGeom prst="rect">
            <a:avLst/>
          </a:prstGeom>
        </p:spPr>
      </p:pic>
    </p:spTree>
    <p:extLst>
      <p:ext uri="{BB962C8B-B14F-4D97-AF65-F5344CB8AC3E}">
        <p14:creationId xmlns:p14="http://schemas.microsoft.com/office/powerpoint/2010/main" val="3234394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9622-0292-5E85-A0EA-2FF540B44C9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E713F2-5C6E-3776-AB1E-42731E42E148}"/>
              </a:ext>
            </a:extLst>
          </p:cNvPr>
          <p:cNvSpPr>
            <a:spLocks noGrp="1"/>
          </p:cNvSpPr>
          <p:nvPr>
            <p:ph type="body" idx="1"/>
          </p:nvPr>
        </p:nvSpPr>
        <p:spPr>
          <a:xfrm>
            <a:off x="198619" y="1147217"/>
            <a:ext cx="10515600" cy="5150344"/>
          </a:xfrm>
        </p:spPr>
        <p:txBody>
          <a:bodyPr>
            <a:normAutofit/>
          </a:bodyPr>
          <a:lstStyle/>
          <a:p>
            <a:pPr marL="114300" indent="0">
              <a:buNone/>
            </a:pPr>
            <a:r>
              <a:rPr lang="en-US" dirty="0"/>
              <a:t>STREAMLIT DASHBOARD</a:t>
            </a:r>
          </a:p>
          <a:p>
            <a:pPr marL="114300" indent="0">
              <a:buNone/>
            </a:pPr>
            <a:r>
              <a:rPr lang="en-US" sz="2400" dirty="0">
                <a:latin typeface="Abadi" panose="020B0604020104020204" pitchFamily="34" charset="0"/>
              </a:rPr>
              <a:t>The Streamlit OLA Ride Dashboard is an interactive application that provides a comprehensive view of ride operations, revenue, cancellations, and ratings across all vehicle types. It reads the ride data, cleans numeric columns, and calculates key metrics such as total and successful booking value, average and total distance travelled, and average driver and customer ratings. The dashboard visualizes insights using bar charts, scatter plots, boxplots, and tables, highlighting top customers, vehicle-wise revenue, ride patterns, and cancellations. Users can quickly identify high-performing vehicles, loyal customers, and areas needing improvement, such as reducing cancellations or addressing low ratings. With its intuitive layout, the dashboard allows easy exploration of ride data, enabling better operational and strategic decision-making.</a:t>
            </a:r>
          </a:p>
          <a:p>
            <a:pPr marL="114300" indent="0">
              <a:buNone/>
            </a:pPr>
            <a:endParaRPr lang="en-US" sz="2400" dirty="0">
              <a:latin typeface="Abadi" panose="020B0604020104020204" pitchFamily="34" charset="0"/>
            </a:endParaRPr>
          </a:p>
          <a:p>
            <a:pPr marL="114300" indent="0">
              <a:buNone/>
            </a:pPr>
            <a:endParaRPr lang="en-IN" dirty="0"/>
          </a:p>
        </p:txBody>
      </p:sp>
      <p:sp>
        <p:nvSpPr>
          <p:cNvPr id="4" name="Google Shape;169;p5">
            <a:extLst>
              <a:ext uri="{FF2B5EF4-FFF2-40B4-BE49-F238E27FC236}">
                <a16:creationId xmlns:a16="http://schemas.microsoft.com/office/drawing/2014/main" id="{EA1C148A-94E5-4613-FDEA-DFDE7CABA1AE}"/>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A95BB1F7-D7C4-BDAA-C4D4-F1AA44E20E2D}"/>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5CA717DE-F7DA-43E5-6EA5-8F5BA28C1A94}"/>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spTree>
    <p:extLst>
      <p:ext uri="{BB962C8B-B14F-4D97-AF65-F5344CB8AC3E}">
        <p14:creationId xmlns:p14="http://schemas.microsoft.com/office/powerpoint/2010/main" val="2003249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FF906-B261-866B-22FD-1B3998DB8C7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C5398A2-7979-B8EC-FDCE-700DE7B36F34}"/>
              </a:ext>
            </a:extLst>
          </p:cNvPr>
          <p:cNvSpPr>
            <a:spLocks noGrp="1"/>
          </p:cNvSpPr>
          <p:nvPr>
            <p:ph type="body" idx="1"/>
          </p:nvPr>
        </p:nvSpPr>
        <p:spPr>
          <a:xfrm>
            <a:off x="198619" y="1147217"/>
            <a:ext cx="10515600" cy="4351338"/>
          </a:xfrm>
        </p:spPr>
        <p:txBody>
          <a:bodyPr/>
          <a:lstStyle/>
          <a:p>
            <a:pPr marL="114300" indent="0">
              <a:buNone/>
            </a:pPr>
            <a:r>
              <a:rPr lang="en-US" dirty="0" err="1"/>
              <a:t>Streamlit</a:t>
            </a:r>
            <a:r>
              <a:rPr lang="en-US" dirty="0"/>
              <a:t> dashboard</a:t>
            </a:r>
          </a:p>
          <a:p>
            <a:pPr marL="114300" indent="0">
              <a:buNone/>
            </a:pPr>
            <a:endParaRPr lang="en-US" dirty="0"/>
          </a:p>
          <a:p>
            <a:pPr marL="114300" indent="0">
              <a:buNone/>
            </a:pPr>
            <a:endParaRPr lang="en-IN" dirty="0"/>
          </a:p>
        </p:txBody>
      </p:sp>
      <p:sp>
        <p:nvSpPr>
          <p:cNvPr id="4" name="Google Shape;169;p5">
            <a:extLst>
              <a:ext uri="{FF2B5EF4-FFF2-40B4-BE49-F238E27FC236}">
                <a16:creationId xmlns:a16="http://schemas.microsoft.com/office/drawing/2014/main" id="{15E757A1-1937-AA9F-DE92-8776214EDF63}"/>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D71E8076-2FEF-1CEA-E514-BC75D0893CDA}"/>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3BD9370F-4139-34A8-370B-C5A4F4686AD6}"/>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pic>
        <p:nvPicPr>
          <p:cNvPr id="7" name="Picture 6" descr="A screenshot of a computer screen&#10;&#10;AI-generated content may be incorrect.">
            <a:extLst>
              <a:ext uri="{FF2B5EF4-FFF2-40B4-BE49-F238E27FC236}">
                <a16:creationId xmlns:a16="http://schemas.microsoft.com/office/drawing/2014/main" id="{B4796121-52F6-081E-63F1-C4E2D5431ECC}"/>
              </a:ext>
            </a:extLst>
          </p:cNvPr>
          <p:cNvPicPr>
            <a:picLocks noChangeAspect="1"/>
          </p:cNvPicPr>
          <p:nvPr/>
        </p:nvPicPr>
        <p:blipFill>
          <a:blip r:embed="rId4"/>
          <a:stretch>
            <a:fillRect/>
          </a:stretch>
        </p:blipFill>
        <p:spPr>
          <a:xfrm>
            <a:off x="1076632" y="1961535"/>
            <a:ext cx="9637587" cy="3749248"/>
          </a:xfrm>
          <a:prstGeom prst="rect">
            <a:avLst/>
          </a:prstGeom>
        </p:spPr>
      </p:pic>
    </p:spTree>
    <p:extLst>
      <p:ext uri="{BB962C8B-B14F-4D97-AF65-F5344CB8AC3E}">
        <p14:creationId xmlns:p14="http://schemas.microsoft.com/office/powerpoint/2010/main" val="2588115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80F57-496D-146E-DBD8-F2A42E67791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E44D155-23EF-0642-21A8-275723F49F71}"/>
              </a:ext>
            </a:extLst>
          </p:cNvPr>
          <p:cNvSpPr>
            <a:spLocks noGrp="1"/>
          </p:cNvSpPr>
          <p:nvPr>
            <p:ph type="body" idx="1"/>
          </p:nvPr>
        </p:nvSpPr>
        <p:spPr>
          <a:xfrm>
            <a:off x="198619" y="1147217"/>
            <a:ext cx="10515600" cy="4351338"/>
          </a:xfrm>
        </p:spPr>
        <p:txBody>
          <a:bodyPr/>
          <a:lstStyle/>
          <a:p>
            <a:pPr marL="114300" indent="0">
              <a:buNone/>
            </a:pPr>
            <a:r>
              <a:rPr lang="en-US" dirty="0" err="1"/>
              <a:t>Streamlit</a:t>
            </a:r>
            <a:r>
              <a:rPr lang="en-US" dirty="0"/>
              <a:t> dashboard</a:t>
            </a:r>
          </a:p>
          <a:p>
            <a:pPr marL="114300" indent="0">
              <a:buNone/>
            </a:pPr>
            <a:endParaRPr lang="en-US" dirty="0"/>
          </a:p>
          <a:p>
            <a:pPr marL="114300" indent="0">
              <a:buNone/>
            </a:pPr>
            <a:endParaRPr lang="en-IN" dirty="0"/>
          </a:p>
        </p:txBody>
      </p:sp>
      <p:sp>
        <p:nvSpPr>
          <p:cNvPr id="4" name="Google Shape;169;p5">
            <a:extLst>
              <a:ext uri="{FF2B5EF4-FFF2-40B4-BE49-F238E27FC236}">
                <a16:creationId xmlns:a16="http://schemas.microsoft.com/office/drawing/2014/main" id="{5AC48C47-8A71-6184-7801-4A817541E571}"/>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7E186AF2-1738-8CA9-1785-1599DA2C1F52}"/>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52347742-3F27-29E4-912A-FED19D2722F9}"/>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pic>
        <p:nvPicPr>
          <p:cNvPr id="8" name="Picture 7" descr="A screenshot of a data report&#10;&#10;AI-generated content may be incorrect.">
            <a:extLst>
              <a:ext uri="{FF2B5EF4-FFF2-40B4-BE49-F238E27FC236}">
                <a16:creationId xmlns:a16="http://schemas.microsoft.com/office/drawing/2014/main" id="{518FC462-979A-1D2F-09C1-62EB7813A60B}"/>
              </a:ext>
            </a:extLst>
          </p:cNvPr>
          <p:cNvPicPr>
            <a:picLocks noChangeAspect="1"/>
          </p:cNvPicPr>
          <p:nvPr/>
        </p:nvPicPr>
        <p:blipFill>
          <a:blip r:embed="rId4"/>
          <a:stretch>
            <a:fillRect/>
          </a:stretch>
        </p:blipFill>
        <p:spPr>
          <a:xfrm>
            <a:off x="412956" y="1942693"/>
            <a:ext cx="10301264" cy="4351338"/>
          </a:xfrm>
          <a:prstGeom prst="rect">
            <a:avLst/>
          </a:prstGeom>
        </p:spPr>
      </p:pic>
    </p:spTree>
    <p:extLst>
      <p:ext uri="{BB962C8B-B14F-4D97-AF65-F5344CB8AC3E}">
        <p14:creationId xmlns:p14="http://schemas.microsoft.com/office/powerpoint/2010/main" val="35013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D043-C41B-D2F4-85E2-CE9C8EBBCF5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62B5928-FD09-C251-DBCB-73B577B38A51}"/>
              </a:ext>
            </a:extLst>
          </p:cNvPr>
          <p:cNvSpPr>
            <a:spLocks noGrp="1"/>
          </p:cNvSpPr>
          <p:nvPr>
            <p:ph type="body" idx="1"/>
          </p:nvPr>
        </p:nvSpPr>
        <p:spPr>
          <a:xfrm>
            <a:off x="198619" y="1147217"/>
            <a:ext cx="10515600" cy="4351338"/>
          </a:xfrm>
        </p:spPr>
        <p:txBody>
          <a:bodyPr/>
          <a:lstStyle/>
          <a:p>
            <a:pPr marL="114300" indent="0">
              <a:buNone/>
            </a:pPr>
            <a:r>
              <a:rPr lang="en-US" dirty="0" err="1"/>
              <a:t>Streamlit</a:t>
            </a:r>
            <a:r>
              <a:rPr lang="en-US" dirty="0"/>
              <a:t> dashboard</a:t>
            </a:r>
          </a:p>
          <a:p>
            <a:pPr marL="114300" indent="0">
              <a:buNone/>
            </a:pPr>
            <a:endParaRPr lang="en-US" dirty="0"/>
          </a:p>
          <a:p>
            <a:pPr marL="114300" indent="0">
              <a:buNone/>
            </a:pPr>
            <a:endParaRPr lang="en-IN" dirty="0"/>
          </a:p>
        </p:txBody>
      </p:sp>
      <p:sp>
        <p:nvSpPr>
          <p:cNvPr id="4" name="Google Shape;169;p5">
            <a:extLst>
              <a:ext uri="{FF2B5EF4-FFF2-40B4-BE49-F238E27FC236}">
                <a16:creationId xmlns:a16="http://schemas.microsoft.com/office/drawing/2014/main" id="{994BD2BB-130D-BEDC-5D67-C142EDFEAB48}"/>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E86FD430-A088-B019-3DA4-9FC9D3A969ED}"/>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19722EF6-5457-2B40-4E7C-266BBE06921E}"/>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pic>
        <p:nvPicPr>
          <p:cNvPr id="7" name="Picture 6" descr="A number on a white background&#10;&#10;AI-generated content may be incorrect.">
            <a:extLst>
              <a:ext uri="{FF2B5EF4-FFF2-40B4-BE49-F238E27FC236}">
                <a16:creationId xmlns:a16="http://schemas.microsoft.com/office/drawing/2014/main" id="{8A994025-1987-4CD4-7FAB-E3C0691931EC}"/>
              </a:ext>
            </a:extLst>
          </p:cNvPr>
          <p:cNvPicPr>
            <a:picLocks noChangeAspect="1"/>
          </p:cNvPicPr>
          <p:nvPr/>
        </p:nvPicPr>
        <p:blipFill>
          <a:blip r:embed="rId4"/>
          <a:stretch>
            <a:fillRect/>
          </a:stretch>
        </p:blipFill>
        <p:spPr>
          <a:xfrm>
            <a:off x="545690" y="2634645"/>
            <a:ext cx="10943304" cy="3426942"/>
          </a:xfrm>
          <a:prstGeom prst="rect">
            <a:avLst/>
          </a:prstGeom>
        </p:spPr>
      </p:pic>
    </p:spTree>
    <p:extLst>
      <p:ext uri="{BB962C8B-B14F-4D97-AF65-F5344CB8AC3E}">
        <p14:creationId xmlns:p14="http://schemas.microsoft.com/office/powerpoint/2010/main" val="2494247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A49CD-7270-3E40-D218-FAFDF5C3A9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97BF747-DB3A-C16E-170C-A026A85591D3}"/>
              </a:ext>
            </a:extLst>
          </p:cNvPr>
          <p:cNvSpPr>
            <a:spLocks noGrp="1"/>
          </p:cNvSpPr>
          <p:nvPr>
            <p:ph type="body" idx="1"/>
          </p:nvPr>
        </p:nvSpPr>
        <p:spPr>
          <a:xfrm>
            <a:off x="198619" y="1147217"/>
            <a:ext cx="10515600" cy="4351338"/>
          </a:xfrm>
        </p:spPr>
        <p:txBody>
          <a:bodyPr/>
          <a:lstStyle/>
          <a:p>
            <a:pPr marL="114300" indent="0">
              <a:buNone/>
            </a:pPr>
            <a:r>
              <a:rPr lang="en-US" dirty="0" err="1"/>
              <a:t>Streamlit</a:t>
            </a:r>
            <a:r>
              <a:rPr lang="en-US" dirty="0"/>
              <a:t> dashboard</a:t>
            </a:r>
          </a:p>
          <a:p>
            <a:pPr marL="114300" indent="0">
              <a:buNone/>
            </a:pPr>
            <a:endParaRPr lang="en-US" dirty="0"/>
          </a:p>
          <a:p>
            <a:pPr marL="114300" indent="0">
              <a:buNone/>
            </a:pPr>
            <a:endParaRPr lang="en-IN" dirty="0"/>
          </a:p>
        </p:txBody>
      </p:sp>
      <p:sp>
        <p:nvSpPr>
          <p:cNvPr id="4" name="Google Shape;169;p5">
            <a:extLst>
              <a:ext uri="{FF2B5EF4-FFF2-40B4-BE49-F238E27FC236}">
                <a16:creationId xmlns:a16="http://schemas.microsoft.com/office/drawing/2014/main" id="{62D3533E-E330-3B90-58FE-8FAC2F25C99B}"/>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D01FB27B-AC2B-8B87-C957-34CE4CB77CF4}"/>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3ED2BA58-4257-C59D-32D8-5A16BECC2F39}"/>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pic>
        <p:nvPicPr>
          <p:cNvPr id="8" name="Picture 7" descr="A screen shot of a computer code&#10;&#10;AI-generated content may be incorrect.">
            <a:extLst>
              <a:ext uri="{FF2B5EF4-FFF2-40B4-BE49-F238E27FC236}">
                <a16:creationId xmlns:a16="http://schemas.microsoft.com/office/drawing/2014/main" id="{16E33ECA-1570-4005-142A-287233A17C8A}"/>
              </a:ext>
            </a:extLst>
          </p:cNvPr>
          <p:cNvPicPr>
            <a:picLocks noChangeAspect="1"/>
          </p:cNvPicPr>
          <p:nvPr/>
        </p:nvPicPr>
        <p:blipFill>
          <a:blip r:embed="rId4"/>
          <a:stretch>
            <a:fillRect/>
          </a:stretch>
        </p:blipFill>
        <p:spPr>
          <a:xfrm>
            <a:off x="1961534" y="1924052"/>
            <a:ext cx="8752685" cy="1504948"/>
          </a:xfrm>
          <a:prstGeom prst="rect">
            <a:avLst/>
          </a:prstGeom>
        </p:spPr>
      </p:pic>
      <p:pic>
        <p:nvPicPr>
          <p:cNvPr id="10" name="Picture 9" descr="A graph with different colored squares&#10;&#10;AI-generated content may be incorrect.">
            <a:extLst>
              <a:ext uri="{FF2B5EF4-FFF2-40B4-BE49-F238E27FC236}">
                <a16:creationId xmlns:a16="http://schemas.microsoft.com/office/drawing/2014/main" id="{3CB5D4F6-E70D-733B-EB47-526B1E17B192}"/>
              </a:ext>
            </a:extLst>
          </p:cNvPr>
          <p:cNvPicPr>
            <a:picLocks noChangeAspect="1"/>
          </p:cNvPicPr>
          <p:nvPr/>
        </p:nvPicPr>
        <p:blipFill>
          <a:blip r:embed="rId5"/>
          <a:stretch>
            <a:fillRect/>
          </a:stretch>
        </p:blipFill>
        <p:spPr>
          <a:xfrm>
            <a:off x="1961534" y="3428999"/>
            <a:ext cx="8126363" cy="2846391"/>
          </a:xfrm>
          <a:prstGeom prst="rect">
            <a:avLst/>
          </a:prstGeom>
        </p:spPr>
      </p:pic>
    </p:spTree>
    <p:extLst>
      <p:ext uri="{BB962C8B-B14F-4D97-AF65-F5344CB8AC3E}">
        <p14:creationId xmlns:p14="http://schemas.microsoft.com/office/powerpoint/2010/main" val="242624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DD427-C628-A194-9E4B-1711A12442B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3BA35F8-077C-BC46-D497-C5A821114CE0}"/>
              </a:ext>
            </a:extLst>
          </p:cNvPr>
          <p:cNvSpPr>
            <a:spLocks noGrp="1"/>
          </p:cNvSpPr>
          <p:nvPr>
            <p:ph type="body" idx="1"/>
          </p:nvPr>
        </p:nvSpPr>
        <p:spPr>
          <a:xfrm>
            <a:off x="0" y="1104499"/>
            <a:ext cx="11554877" cy="47284540"/>
          </a:xfrm>
        </p:spPr>
        <p:txBody>
          <a:bodyPr/>
          <a:lstStyle/>
          <a:p>
            <a:pPr marL="114300" indent="0">
              <a:buNone/>
            </a:pPr>
            <a:r>
              <a:rPr lang="en-US" dirty="0"/>
              <a:t>conclusion</a:t>
            </a:r>
          </a:p>
          <a:p>
            <a:pPr marL="114300" indent="0">
              <a:buNone/>
            </a:pPr>
            <a:endParaRPr lang="en-US" dirty="0"/>
          </a:p>
          <a:p>
            <a:pPr marL="114300" indent="0">
              <a:buNone/>
            </a:pPr>
            <a:endParaRPr lang="en-IN" dirty="0"/>
          </a:p>
        </p:txBody>
      </p:sp>
      <p:sp>
        <p:nvSpPr>
          <p:cNvPr id="4" name="Google Shape;169;p5">
            <a:extLst>
              <a:ext uri="{FF2B5EF4-FFF2-40B4-BE49-F238E27FC236}">
                <a16:creationId xmlns:a16="http://schemas.microsoft.com/office/drawing/2014/main" id="{D6BCEF11-BB7B-949A-C858-B9243DCD1D2C}"/>
              </a:ext>
            </a:extLst>
          </p:cNvPr>
          <p:cNvSpPr/>
          <p:nvPr/>
        </p:nvSpPr>
        <p:spPr>
          <a:xfrm rot="5400000">
            <a:off x="5613901" y="-5613901"/>
            <a:ext cx="964198" cy="12192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pic>
        <p:nvPicPr>
          <p:cNvPr id="5" name="Google Shape;117;p2" descr="A yellow circle with black lines&#10;&#10;Description automatically generated">
            <a:extLst>
              <a:ext uri="{FF2B5EF4-FFF2-40B4-BE49-F238E27FC236}">
                <a16:creationId xmlns:a16="http://schemas.microsoft.com/office/drawing/2014/main" id="{ADB253D2-B371-B6BD-8541-1805BA46FDF7}"/>
              </a:ext>
            </a:extLst>
          </p:cNvPr>
          <p:cNvPicPr preferRelativeResize="0"/>
          <p:nvPr/>
        </p:nvPicPr>
        <p:blipFill rotWithShape="1">
          <a:blip r:embed="rId2">
            <a:alphaModFix/>
          </a:blip>
          <a:srcRect/>
          <a:stretch/>
        </p:blipFill>
        <p:spPr>
          <a:xfrm>
            <a:off x="3615822" y="-183020"/>
            <a:ext cx="1330237" cy="1330237"/>
          </a:xfrm>
          <a:prstGeom prst="rect">
            <a:avLst/>
          </a:prstGeom>
          <a:noFill/>
          <a:ln>
            <a:noFill/>
          </a:ln>
        </p:spPr>
      </p:pic>
      <p:pic>
        <p:nvPicPr>
          <p:cNvPr id="6" name="Google Shape;116;p2" descr="A white text on a black background&#10;&#10;Description automatically generated">
            <a:extLst>
              <a:ext uri="{FF2B5EF4-FFF2-40B4-BE49-F238E27FC236}">
                <a16:creationId xmlns:a16="http://schemas.microsoft.com/office/drawing/2014/main" id="{1E3B4A4D-2788-6B5D-E47B-129734250724}"/>
              </a:ext>
            </a:extLst>
          </p:cNvPr>
          <p:cNvPicPr preferRelativeResize="0"/>
          <p:nvPr/>
        </p:nvPicPr>
        <p:blipFill rotWithShape="1">
          <a:blip r:embed="rId3">
            <a:alphaModFix/>
          </a:blip>
          <a:srcRect/>
          <a:stretch/>
        </p:blipFill>
        <p:spPr>
          <a:xfrm>
            <a:off x="4816839" y="140301"/>
            <a:ext cx="1279161" cy="683593"/>
          </a:xfrm>
          <a:prstGeom prst="rect">
            <a:avLst/>
          </a:prstGeom>
          <a:noFill/>
          <a:ln>
            <a:noFill/>
          </a:ln>
        </p:spPr>
      </p:pic>
      <p:sp>
        <p:nvSpPr>
          <p:cNvPr id="7" name="Rectangle 2">
            <a:extLst>
              <a:ext uri="{FF2B5EF4-FFF2-40B4-BE49-F238E27FC236}">
                <a16:creationId xmlns:a16="http://schemas.microsoft.com/office/drawing/2014/main" id="{238CFDCD-AFFF-6698-7140-96FAFCCCC0E1}"/>
              </a:ext>
            </a:extLst>
          </p:cNvPr>
          <p:cNvSpPr>
            <a:spLocks noChangeArrowheads="1"/>
          </p:cNvSpPr>
          <p:nvPr/>
        </p:nvSpPr>
        <p:spPr bwMode="auto">
          <a:xfrm>
            <a:off x="77650" y="1994674"/>
            <a:ext cx="11171419"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badi" panose="020B0604020104020204" pitchFamily="34" charset="0"/>
              </a:rPr>
              <a:t>In conclusion, the OLA Ride Dashboard provides valuable insights into ride operations, revenue generation, customer behavior, and service quality across different vehicle types. Premium vehicles like Prime Sedans and SUVs drive the highest revenue and cover longer distances, while Autos and Bikes serve short urban trips. Customer cancellations are higher than driver cancellations, highlighting areas for operational improvement. Driver and customer ratings are generally high, indicating satisfactory service, with premium vehicles achieving the best scores. The dashboard emphasizes the importance of loyal, high-value customers and successful ride fulfillment in maximizing revenue. Overall, these insights can guide strategies to reduce cancellations, enhance service quality, and optimize vehicle utilization for better business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276223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TotalTime>
  <Words>968</Words>
  <Application>Microsoft Office PowerPoint</Application>
  <PresentationFormat>Widescreen</PresentationFormat>
  <Paragraphs>166</Paragraphs>
  <Slides>15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ADLaM Display</vt:lpstr>
      <vt:lpstr>Calibri</vt:lpstr>
      <vt:lpstr>Arial</vt:lpstr>
      <vt:lpstr>Poppins</vt:lpstr>
      <vt:lpstr>Abadi</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Vishal Gajanan</dc:creator>
  <cp:lastModifiedBy>anjalimishra.am111@gmail.com</cp:lastModifiedBy>
  <cp:revision>4</cp:revision>
  <dcterms:created xsi:type="dcterms:W3CDTF">2024-10-05T18:58:27Z</dcterms:created>
  <dcterms:modified xsi:type="dcterms:W3CDTF">2025-09-28T05:05:22Z</dcterms:modified>
</cp:coreProperties>
</file>